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 b="1">
                <a:latin typeface="Google Sans Flex"/>
                <a:ea typeface="Google Sans Flex"/>
                <a:cs typeface="Google Sans Flex"/>
                <a:sym typeface="Google Sans Flex"/>
              </a:rPr>
              <a:t>Royal Stack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 b="1">
                <a:latin typeface="Google Sans Flex"/>
                <a:ea typeface="Google Sans Flex"/>
                <a:cs typeface="Google Sans Flex"/>
                <a:sym typeface="Google Sans Flex"/>
              </a:rPr>
              <a:t>SATHISHKUMAR S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Retail &amp; Commerce. One AI commerce agent on one inventory truth for small retailers: it serves shoppers in the aisle and online in their own language, plans the owner's inventory, prevents loss at self-checkout, and keeps in step with the billing software the shop already runs.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188720"/>
            <a:ext cx="85953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02124"/>
                </a:solidFill>
                <a:latin typeface="Google Sans Flex"/>
              </a:rPr>
              <a:t>Royal Stack: </a:t>
            </a:r>
            <a:r>
              <a:rPr sz="1500" b="0" i="0">
                <a:solidFill>
                  <a:srgbClr val="202124"/>
                </a:solidFill>
                <a:latin typeface="Google Sans Flex"/>
              </a:rPr>
              <a:t>one AI commerce agent, one inventory truth.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A Gemini agent that serves the shopper in the aisle and online, runs the owner's inventory, and stays in sync with the billing software the shop already has. The shopper scans a QR at the entrance, talks in any language, follows the map, scans items, pays and leaves through a verified exit. The owner sees forecasts, reorder drafts, demand signals, customers, offers and loss on one dashboard, and can run it all by voice.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74320" y="2240280"/>
            <a:ext cx="2743200" cy="1874519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88A55"/>
                </a:solidFill>
                <a:latin typeface="Google Sans Flex"/>
              </a:rPr>
              <a:t>In the aisle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0040" y="2560320"/>
            <a:ext cx="265176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The gap: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Nobody to ask, no answer in your own language, a queue at the end.</a:t>
            </a:r>
          </a:p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What we built: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A live voice assistant that knows every shelf, answers from stock data, lights up the map and lets you scan and pay yourself.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172968" y="2240280"/>
            <a:ext cx="2743200" cy="1874519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A73E8"/>
                </a:solidFill>
                <a:latin typeface="Google Sans Flex"/>
              </a:rPr>
              <a:t>In the back office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218687" y="2560320"/>
            <a:ext cx="265176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The gap: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Reorders from memory, demand noticed after the sale is lost, shrink found at stock-take.</a:t>
            </a:r>
          </a:p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What we built: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Nightly forecasts, reorder drafts with a reason, demand signals from conversations, a loss view, every change waiting for approval.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071616" y="2240280"/>
            <a:ext cx="2743200" cy="1874519"/>
          </a:xfrm>
          <a:prstGeom prst="roundRect">
            <a:avLst>
              <a:gd name="adj" fmla="val 8000"/>
            </a:avLst>
          </a:prstGeom>
          <a:solidFill>
            <a:srgbClr val="FEF3E2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26D00"/>
                </a:solidFill>
                <a:latin typeface="Google Sans Flex"/>
              </a:rPr>
              <a:t>Between systems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17336" y="2560320"/>
            <a:ext cx="265176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The gap: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Billing software, online store and shoppers each hold a different stock count.</a:t>
            </a:r>
          </a:p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What we built: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A connector agent that brings any export, sheet, API or database in, and signed sync that keeps every surface on the same stock.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4320" y="425196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5F6368"/>
                </a:solidFill>
                <a:latin typeface="Google Sans Flex"/>
              </a:rPr>
              <a:t>Everything on these slides is deployed and in use at royastacxk-aibuildercup.web.app, built on Google Cloud with Gemini. Nothing here is planned-only.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274320" y="2057400"/>
            <a:ext cx="2743200" cy="28346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88A55"/>
                </a:solidFill>
                <a:latin typeface="Google Sans Flex"/>
              </a:rPr>
              <a:t>How it is different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Most retail AI is a chatbot on one channel. This is a multi-agent system on Google ADK: coordinators route to specialist agents across three surfaces, in store, online and the owner's desk, all on one stock record.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Scan-first carts and a rules-based exit check make self-checkout safe for a small shop.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It plugs into the shop's existing billing software, sheets or database instead of replacing them.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172968" y="2057400"/>
            <a:ext cx="2743200" cy="28346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A73E8"/>
                </a:solidFill>
                <a:latin typeface="Google Sans Flex"/>
              </a:rPr>
              <a:t>How it solves the problem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Shoppers ask in any language and get stock, price and aisle from tools, never guessed; out-of-stock items come with alternatives and pack maths.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Owners get ARIMA forecasts, reorder drafts, demand signals and a loss view, with approval before anything changes.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The connector agent normalises any source with a preview, so the stock the agent speaks from is the stock the shop bills from.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71616" y="2057400"/>
            <a:ext cx="2743200" cy="2834640"/>
          </a:xfrm>
          <a:prstGeom prst="roundRect">
            <a:avLst>
              <a:gd name="adj" fmla="val 8000"/>
            </a:avLst>
          </a:prstGeom>
          <a:solidFill>
            <a:srgbClr val="FEF3E2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26D00"/>
                </a:solidFill>
                <a:latin typeface="Google Sans Flex"/>
              </a:rPr>
              <a:t>USP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"The model talks, code decides": prices, stock, discounts, points and exit verdicts are code inside transactions; Gemini handles language, vision, grounding and proposals.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25 languages verified on the live model, Tamil spoken and transcribed in Tamil script.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A one-person shop registers and is live in a minute; every control is traceable to a test.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274320" y="1234440"/>
            <a:ext cx="2743200" cy="32918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88A55"/>
                </a:solidFill>
                <a:latin typeface="Google Sans Flex"/>
              </a:rPr>
              <a:t>Shopper, in store and online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Entrance QR, no app install; optional phone sign-in for history, offers and points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Live speech-to-speech assistant, interruptible, any language, memory across visits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Text chat with product photos ("what is this?") and product facts with citations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Floor map that lights up the aisle and bay; aisle QRs update where you stand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Scan-first cart, offers that apply themselves, points at checkout, sandbox payment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Signed receipt QR and a verified exit with a bag check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172968" y="1234440"/>
            <a:ext cx="2743200" cy="32918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</a:rPr>
              <a:t>Owner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Dashboard: today's sales, stock health, decisions waiting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Inventory with days of cover, BigQuery ML forecasts, reorder drafts with a rationale, approvals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Demand signals: asked but not carried, asked but out of stock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Customers in segments, offers (product, category, bill, segment), points ledger with audit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Loss and shrink view, exit verdict review, kiosk PIN controls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Owner assistant by text or voice with full, confirm-before-acting access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071616" y="1234440"/>
            <a:ext cx="2743200" cy="3291840"/>
          </a:xfrm>
          <a:prstGeom prst="roundRect">
            <a:avLst>
              <a:gd name="adj" fmla="val 8000"/>
            </a:avLst>
          </a:prstGeom>
          <a:solidFill>
            <a:srgbClr val="FEF3E2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26D00"/>
                </a:solidFill>
                <a:latin typeface="Google Sans Flex"/>
              </a:rPr>
              <a:t>Platform and integration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Connector agent: files (CSV, Excel, JSON, PDF), Google Sheets, API feeds, read-only Postgres/MySQL, with mapping, preview and confirm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Signed webhooks in and out, pull endpoint, scheduled feeds, outbox retries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Multi-floor floor-map editor; chiller and freezer placement by product type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Self-service registration, roles for owner, staff, shopper and guest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Echo guard for loudspeaker use; transcripts in the spoken script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Data export and deletion for shoppers; audit trail for every owner action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4320" y="4572000"/>
            <a:ext cx="8595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F6368"/>
                </a:solidFill>
                <a:latin typeface="Google Sans Flex"/>
              </a:rPr>
              <a:t>Every feature is live today; the shopper side needs no app install, the owner side registers a shop in a minute.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274320" y="1143000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88A55"/>
                </a:solidFill>
                <a:latin typeface="Google Sans Flex"/>
              </a:rPr>
              <a:t>Shopper journey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74320" y="1417320"/>
            <a:ext cx="1097280" cy="6858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188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Scan entrance QR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1371600" y="1760220"/>
            <a:ext cx="155448" cy="0"/>
          </a:xfrm>
          <a:prstGeom prst="line">
            <a:avLst/>
          </a:prstGeom>
          <a:ln w="15875">
            <a:solidFill>
              <a:srgbClr val="188A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1527048" y="1417320"/>
            <a:ext cx="1097280" cy="6858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188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Ask by voice or text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2624328" y="1760220"/>
            <a:ext cx="155448" cy="0"/>
          </a:xfrm>
          <a:prstGeom prst="line">
            <a:avLst/>
          </a:prstGeom>
          <a:ln w="15875">
            <a:solidFill>
              <a:srgbClr val="188A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2779775" y="1417320"/>
            <a:ext cx="1097280" cy="6858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188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Map lights the aisle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3877055" y="1760220"/>
            <a:ext cx="155448" cy="0"/>
          </a:xfrm>
          <a:prstGeom prst="line">
            <a:avLst/>
          </a:prstGeom>
          <a:ln w="15875">
            <a:solidFill>
              <a:srgbClr val="188A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4032503" y="1417320"/>
            <a:ext cx="1097280" cy="6858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188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Scan items into cart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5129783" y="1760220"/>
            <a:ext cx="155448" cy="0"/>
          </a:xfrm>
          <a:prstGeom prst="line">
            <a:avLst/>
          </a:prstGeom>
          <a:ln w="15875">
            <a:solidFill>
              <a:srgbClr val="188A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5285231" y="1417320"/>
            <a:ext cx="1097280" cy="6858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188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Offers and points apply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6382512" y="1760220"/>
            <a:ext cx="155447" cy="0"/>
          </a:xfrm>
          <a:prstGeom prst="line">
            <a:avLst/>
          </a:prstGeom>
          <a:ln w="15875">
            <a:solidFill>
              <a:srgbClr val="188A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6537959" y="1417320"/>
            <a:ext cx="1097280" cy="6858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188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Pay, receipt QR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7635240" y="1760220"/>
            <a:ext cx="155448" cy="0"/>
          </a:xfrm>
          <a:prstGeom prst="line">
            <a:avLst/>
          </a:prstGeom>
          <a:ln w="15875">
            <a:solidFill>
              <a:srgbClr val="188A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7790688" y="1417320"/>
            <a:ext cx="1097280" cy="6858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188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Exit check: clear, spot check or flag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4320" y="214884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6368"/>
                </a:solidFill>
                <a:latin typeface="Google Sans Flex"/>
              </a:rPr>
              <a:t>A coordinator agent routes each turn to a specialist (catalog, navigation, cart); every answer comes from a tool call on the live catalog, and the screen renders tool results only. Out of stock is said plainly with alternatives; "10 kg" becomes two 5 kg packs.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74320" y="2697480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A73E8"/>
                </a:solidFill>
                <a:latin typeface="Google Sans Flex"/>
              </a:rPr>
              <a:t>Owner loop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74320" y="2971800"/>
            <a:ext cx="1298448" cy="6858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Sales and stock recorded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1572768" y="3314700"/>
            <a:ext cx="155448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ounded Rectangle 113"/>
          <p:cNvSpPr/>
          <p:nvPr/>
        </p:nvSpPr>
        <p:spPr>
          <a:xfrm>
            <a:off x="1728216" y="2971800"/>
            <a:ext cx="1298448" cy="6858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Nightly ARIMA_PLUS forecast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3026663" y="3314700"/>
            <a:ext cx="155448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Rounded Rectangle 115"/>
          <p:cNvSpPr/>
          <p:nvPr/>
        </p:nvSpPr>
        <p:spPr>
          <a:xfrm>
            <a:off x="3182111" y="2971800"/>
            <a:ext cx="1298448" cy="6858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Reorder drafts with a reason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4480559" y="3314700"/>
            <a:ext cx="155448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unded Rectangle 117"/>
          <p:cNvSpPr/>
          <p:nvPr/>
        </p:nvSpPr>
        <p:spPr>
          <a:xfrm>
            <a:off x="4636007" y="2971800"/>
            <a:ext cx="1298448" cy="6858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Owner approves or edits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5934455" y="3314700"/>
            <a:ext cx="155448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6089903" y="2971800"/>
            <a:ext cx="1298448" cy="6858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Briefing: two scouts in parallel, one writer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7388351" y="3314700"/>
            <a:ext cx="155448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ounded Rectangle 121"/>
          <p:cNvSpPr/>
          <p:nvPr/>
        </p:nvSpPr>
        <p:spPr>
          <a:xfrm>
            <a:off x="7543800" y="2971800"/>
            <a:ext cx="1298448" cy="6858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Connector agent keeps stock in step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74320" y="3840480"/>
            <a:ext cx="4160520" cy="1005840"/>
          </a:xfrm>
          <a:prstGeom prst="roundRect">
            <a:avLst>
              <a:gd name="adj" fmla="val 8000"/>
            </a:avLst>
          </a:prstGeom>
          <a:solidFill>
            <a:srgbClr val="FEF3E2"/>
          </a:solidFill>
          <a:ln w="9525">
            <a:solidFill>
              <a:srgbClr val="C26D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C26D00"/>
                </a:solidFill>
                <a:latin typeface="Google Sans Flex"/>
              </a:rPr>
              <a:t>Rules decide at the exit</a:t>
            </a:r>
          </a:p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Receipt token, paid order, item count, line limit, high-value items, random audit, then a Gemini bag photo that only moves confidence. Staff review flags with a kiosk PIN.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4709160" y="3840480"/>
            <a:ext cx="4160520" cy="10058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Bring in the shop's own data</a:t>
            </a:r>
          </a:p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Upload an export, paste a Sheet or API link, or connect a read-only database. The agent proposes the column mapping, previews adds, updates and restocks, writes after confirmation, and pulls again every 15 minutes.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274320" y="1188720"/>
            <a:ext cx="1600200" cy="3200400"/>
          </a:xfrm>
          <a:prstGeom prst="roundRect">
            <a:avLst>
              <a:gd name="adj" fmla="val 12000"/>
            </a:avLst>
          </a:prstGeom>
          <a:solidFill>
            <a:srgbClr val="15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38328" y="1298448"/>
            <a:ext cx="1472184" cy="2980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84048" y="1344168"/>
            <a:ext cx="1380743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550" b="0" i="0">
                <a:solidFill>
                  <a:srgbClr val="5F6368"/>
                </a:solidFill>
                <a:latin typeface="Google Sans Flex"/>
              </a:rPr>
              <a:t>In-store assistant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</a:rPr>
              <a:t>Royal Stack Supermarket</a:t>
            </a:r>
          </a:p>
        </p:txBody>
      </p:sp>
      <p:sp>
        <p:nvSpPr>
          <p:cNvPr id="107" name="Oval 106"/>
          <p:cNvSpPr/>
          <p:nvPr/>
        </p:nvSpPr>
        <p:spPr>
          <a:xfrm>
            <a:off x="873251" y="1709928"/>
            <a:ext cx="402336" cy="402336"/>
          </a:xfrm>
          <a:prstGeom prst="ellipse">
            <a:avLst/>
          </a:prstGeom>
          <a:solidFill>
            <a:srgbClr val="188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38328" y="2130552"/>
            <a:ext cx="1472184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5F6368"/>
                </a:solidFill>
                <a:latin typeface="Google Sans Flex"/>
              </a:rPr>
              <a:t>Listening. Just talk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07344" y="2368296"/>
            <a:ext cx="1148303" cy="155448"/>
          </a:xfrm>
          <a:prstGeom prst="roundRect">
            <a:avLst>
              <a:gd name="adj" fmla="val 30000"/>
            </a:avLst>
          </a:prstGeom>
          <a:solidFill>
            <a:srgbClr val="15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550" b="0" i="0">
                <a:solidFill>
                  <a:srgbClr val="FFFFFF"/>
                </a:solidFill>
                <a:latin typeface="Google Sans Flex"/>
              </a:rPr>
              <a:t>Do you have atta?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93192" y="2578608"/>
            <a:ext cx="1148303" cy="265176"/>
          </a:xfrm>
          <a:prstGeom prst="roundRect">
            <a:avLst>
              <a:gd name="adj" fmla="val 3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550" b="0" i="0">
                <a:solidFill>
                  <a:srgbClr val="202124"/>
                </a:solidFill>
                <a:latin typeface="Google Sans Flex"/>
              </a:rPr>
              <a:t>Yes. Aashirvaad 5 kg ₹265 and 10 kg ₹520, both in stock. Which one?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07344" y="2898648"/>
            <a:ext cx="1148303" cy="155448"/>
          </a:xfrm>
          <a:prstGeom prst="roundRect">
            <a:avLst>
              <a:gd name="adj" fmla="val 30000"/>
            </a:avLst>
          </a:prstGeom>
          <a:solidFill>
            <a:srgbClr val="15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550" b="0" i="0">
                <a:solidFill>
                  <a:srgbClr val="FFFFFF"/>
                </a:solidFill>
                <a:latin typeface="Google Sans Flex"/>
              </a:rPr>
              <a:t>10 kg, add it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93192" y="3712463"/>
            <a:ext cx="1362455" cy="182880"/>
          </a:xfrm>
          <a:prstGeom prst="rect">
            <a:avLst/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500" b="0" i="0">
                <a:solidFill>
                  <a:srgbClr val="5F6368"/>
                </a:solidFill>
                <a:latin typeface="Google Sans Flex"/>
              </a:rPr>
              <a:t>Ask about products, prices, aisles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93192" y="3931920"/>
            <a:ext cx="1362455" cy="146304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500" b="0" i="0">
                <a:solidFill>
                  <a:srgbClr val="202124"/>
                </a:solidFill>
                <a:latin typeface="Google Sans Flex"/>
              </a:rPr>
              <a:t>Your receipt   2 items · ₹530        Checkout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93192" y="4096511"/>
            <a:ext cx="340613" cy="164592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50" b="0" i="0">
                <a:solidFill>
                  <a:srgbClr val="188A55"/>
                </a:solidFill>
                <a:latin typeface="Google Sans Flex"/>
              </a:rPr>
              <a:t>Assistant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33806" y="4096511"/>
            <a:ext cx="340613" cy="164592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50" b="0" i="0">
                <a:solidFill>
                  <a:srgbClr val="5F6368"/>
                </a:solidFill>
                <a:latin typeface="Google Sans Flex"/>
              </a:rPr>
              <a:t>Scan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19" y="4096511"/>
            <a:ext cx="340613" cy="164592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50" b="0" i="0">
                <a:solidFill>
                  <a:srgbClr val="5F6368"/>
                </a:solidFill>
                <a:latin typeface="Google Sans Flex"/>
              </a:rPr>
              <a:t>Cart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15034" y="4096511"/>
            <a:ext cx="340613" cy="164592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50" b="0" i="0">
                <a:solidFill>
                  <a:srgbClr val="5F6368"/>
                </a:solidFill>
                <a:latin typeface="Google Sans Flex"/>
              </a:rPr>
              <a:t>Map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148840" y="1188720"/>
            <a:ext cx="1600200" cy="3200400"/>
          </a:xfrm>
          <a:prstGeom prst="roundRect">
            <a:avLst>
              <a:gd name="adj" fmla="val 12000"/>
            </a:avLst>
          </a:prstGeom>
          <a:solidFill>
            <a:srgbClr val="15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2212848" y="1298448"/>
            <a:ext cx="1472184" cy="2980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258568" y="1344168"/>
            <a:ext cx="1380743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550" b="0" i="0">
                <a:solidFill>
                  <a:srgbClr val="5F6368"/>
                </a:solidFill>
                <a:latin typeface="Google Sans Flex"/>
              </a:rPr>
              <a:t>In-store assistant</a:t>
            </a:r>
          </a:p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</a:rPr>
              <a:t>Royal Stack Supermarket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304288" y="1709928"/>
            <a:ext cx="1289304" cy="1143000"/>
          </a:xfrm>
          <a:prstGeom prst="rect">
            <a:avLst/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377440" y="1819655"/>
            <a:ext cx="155448" cy="685800"/>
          </a:xfrm>
          <a:prstGeom prst="rect">
            <a:avLst/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500" b="0" i="0">
                <a:solidFill>
                  <a:srgbClr val="202124"/>
                </a:solidFill>
                <a:latin typeface="Google Sans Flex"/>
              </a:rPr>
              <a:t>A1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651760" y="1819655"/>
            <a:ext cx="155448" cy="685800"/>
          </a:xfrm>
          <a:prstGeom prst="rect">
            <a:avLst/>
          </a:prstGeom>
          <a:solidFill>
            <a:srgbClr val="188A55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500" b="0" i="0">
                <a:solidFill>
                  <a:srgbClr val="FFFFFF"/>
                </a:solidFill>
                <a:latin typeface="Google Sans Flex"/>
              </a:rPr>
              <a:t>A2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926080" y="1819655"/>
            <a:ext cx="155448" cy="685800"/>
          </a:xfrm>
          <a:prstGeom prst="rect">
            <a:avLst/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500" b="0" i="0">
                <a:solidFill>
                  <a:srgbClr val="202124"/>
                </a:solidFill>
                <a:latin typeface="Google Sans Flex"/>
              </a:rPr>
              <a:t>A3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200400" y="1819655"/>
            <a:ext cx="155448" cy="685800"/>
          </a:xfrm>
          <a:prstGeom prst="rect">
            <a:avLst/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500" b="0" i="0">
                <a:solidFill>
                  <a:srgbClr val="202124"/>
                </a:solidFill>
                <a:latin typeface="Google Sans Flex"/>
              </a:rPr>
              <a:t>A4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474720" y="1819655"/>
            <a:ext cx="182880" cy="320040"/>
          </a:xfrm>
          <a:prstGeom prst="rect">
            <a:avLst/>
          </a:prstGeom>
          <a:solidFill>
            <a:srgbClr val="E8F0FE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450" b="0" i="0">
                <a:solidFill>
                  <a:srgbClr val="202124"/>
                </a:solidFill>
                <a:latin typeface="Google Sans Flex"/>
              </a:rPr>
              <a:t>Cold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670048" y="2624328"/>
            <a:ext cx="457200" cy="128016"/>
          </a:xfrm>
          <a:prstGeom prst="rect">
            <a:avLst/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450" b="0" i="0">
                <a:solidFill>
                  <a:srgbClr val="202124"/>
                </a:solidFill>
                <a:latin typeface="Google Sans Flex"/>
              </a:rPr>
              <a:t>Entrance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304288" y="2898648"/>
            <a:ext cx="128930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550" b="0" i="0">
                <a:solidFill>
                  <a:srgbClr val="202124"/>
                </a:solidFill>
                <a:latin typeface="Google Sans Flex"/>
              </a:rPr>
              <a:t>Toned milk: aisle A2, bay 3, left side. The highlighted shelf is 12 m ahead.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481864" y="3264408"/>
            <a:ext cx="1148303" cy="155448"/>
          </a:xfrm>
          <a:prstGeom prst="roundRect">
            <a:avLst>
              <a:gd name="adj" fmla="val 30000"/>
            </a:avLst>
          </a:prstGeom>
          <a:solidFill>
            <a:srgbClr val="15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550" b="0" i="0">
                <a:solidFill>
                  <a:srgbClr val="FFFFFF"/>
                </a:solidFill>
                <a:latin typeface="Google Sans Flex"/>
              </a:rPr>
              <a:t>Where is toned milk?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267712" y="3712463"/>
            <a:ext cx="1362455" cy="182880"/>
          </a:xfrm>
          <a:prstGeom prst="rect">
            <a:avLst/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500" b="0" i="0">
                <a:solidFill>
                  <a:srgbClr val="5F6368"/>
                </a:solidFill>
                <a:latin typeface="Google Sans Flex"/>
              </a:rPr>
              <a:t>Ask about products, prices, aisles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267712" y="3931920"/>
            <a:ext cx="1362455" cy="146304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500" b="0" i="0">
                <a:solidFill>
                  <a:srgbClr val="202124"/>
                </a:solidFill>
                <a:latin typeface="Google Sans Flex"/>
              </a:rPr>
              <a:t>Your receipt   2 items · ₹530        Checkout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267712" y="4096511"/>
            <a:ext cx="340613" cy="164592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50" b="0" i="0">
                <a:solidFill>
                  <a:srgbClr val="188A55"/>
                </a:solidFill>
                <a:latin typeface="Google Sans Flex"/>
              </a:rPr>
              <a:t>Assistant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608326" y="4096511"/>
            <a:ext cx="340613" cy="164592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50" b="0" i="0">
                <a:solidFill>
                  <a:srgbClr val="5F6368"/>
                </a:solidFill>
                <a:latin typeface="Google Sans Flex"/>
              </a:rPr>
              <a:t>Scan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948940" y="4096511"/>
            <a:ext cx="340613" cy="164592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50" b="0" i="0">
                <a:solidFill>
                  <a:srgbClr val="5F6368"/>
                </a:solidFill>
                <a:latin typeface="Google Sans Flex"/>
              </a:rPr>
              <a:t>Cart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289554" y="4096511"/>
            <a:ext cx="340613" cy="164592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50" b="0" i="0">
                <a:solidFill>
                  <a:srgbClr val="5F6368"/>
                </a:solidFill>
                <a:latin typeface="Google Sans Flex"/>
              </a:rPr>
              <a:t>Map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4023360" y="1188720"/>
            <a:ext cx="3017520" cy="2011680"/>
          </a:xfrm>
          <a:prstGeom prst="roundRect">
            <a:avLst>
              <a:gd name="adj" fmla="val 4000"/>
            </a:avLst>
          </a:prstGeom>
          <a:solidFill>
            <a:srgbClr val="15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069080" y="1234440"/>
            <a:ext cx="2926079" cy="1874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069080" y="1234440"/>
            <a:ext cx="685800" cy="18745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114800" y="1307592"/>
            <a:ext cx="594360" cy="128016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50" b="0" i="0">
                <a:solidFill>
                  <a:srgbClr val="202124"/>
                </a:solidFill>
                <a:latin typeface="Google Sans Flex"/>
              </a:rPr>
              <a:t>Today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114800" y="1458468"/>
            <a:ext cx="594360" cy="128016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50" b="0" i="0">
                <a:solidFill>
                  <a:srgbClr val="202124"/>
                </a:solidFill>
                <a:latin typeface="Google Sans Flex"/>
              </a:rPr>
              <a:t>Assistant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4114800" y="1609344"/>
            <a:ext cx="594360" cy="128016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50" b="0" i="0">
                <a:solidFill>
                  <a:srgbClr val="202124"/>
                </a:solidFill>
                <a:latin typeface="Google Sans Flex"/>
              </a:rPr>
              <a:t>Inventory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114800" y="1760220"/>
            <a:ext cx="594360" cy="128016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50" b="0" i="0">
                <a:solidFill>
                  <a:srgbClr val="202124"/>
                </a:solidFill>
                <a:latin typeface="Google Sans Flex"/>
              </a:rPr>
              <a:t>Reorders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4114800" y="1911096"/>
            <a:ext cx="594360" cy="128016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50" b="0" i="0">
                <a:solidFill>
                  <a:srgbClr val="202124"/>
                </a:solidFill>
                <a:latin typeface="Google Sans Flex"/>
              </a:rPr>
              <a:t>Signals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114800" y="2061972"/>
            <a:ext cx="594360" cy="128016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50" b="0" i="0">
                <a:solidFill>
                  <a:srgbClr val="202124"/>
                </a:solidFill>
                <a:latin typeface="Google Sans Flex"/>
              </a:rPr>
              <a:t>Customers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4114800" y="2212848"/>
            <a:ext cx="594360" cy="128016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50" b="0" i="0">
                <a:solidFill>
                  <a:srgbClr val="202124"/>
                </a:solidFill>
                <a:latin typeface="Google Sans Flex"/>
              </a:rPr>
              <a:t>Offers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114800" y="2363724"/>
            <a:ext cx="594360" cy="128016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50" b="0" i="0">
                <a:solidFill>
                  <a:srgbClr val="202124"/>
                </a:solidFill>
                <a:latin typeface="Google Sans Flex"/>
              </a:rPr>
              <a:t>Loss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4114800" y="2514600"/>
            <a:ext cx="594360" cy="128016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50" b="0" i="0">
                <a:solidFill>
                  <a:srgbClr val="202124"/>
                </a:solidFill>
                <a:latin typeface="Google Sans Flex"/>
              </a:rPr>
              <a:t>Connectors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114800" y="2665476"/>
            <a:ext cx="594360" cy="128016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50" b="0" i="0">
                <a:solidFill>
                  <a:srgbClr val="202124"/>
                </a:solidFill>
                <a:latin typeface="Google Sans Flex"/>
              </a:rPr>
              <a:t>Settings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846320" y="1280160"/>
            <a:ext cx="210312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</a:rPr>
              <a:t>Inventory</a:t>
            </a:r>
          </a:p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5F6368"/>
                </a:solidFill>
                <a:latin typeface="Google Sans Flex"/>
              </a:rPr>
              <a:t>Stock on hand, how fast it sells and when to reorder.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4846320" y="1618488"/>
            <a:ext cx="475488" cy="274320"/>
          </a:xfrm>
          <a:prstGeom prst="rect">
            <a:avLst/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500" b="0" i="0">
                <a:solidFill>
                  <a:srgbClr val="202124"/>
                </a:solidFill>
                <a:latin typeface="Google Sans Flex"/>
              </a:rPr>
              <a:t>14
Low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376672" y="1618488"/>
            <a:ext cx="475488" cy="274320"/>
          </a:xfrm>
          <a:prstGeom prst="rect">
            <a:avLst/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500" b="0" i="0">
                <a:solidFill>
                  <a:srgbClr val="202124"/>
                </a:solidFill>
                <a:latin typeface="Google Sans Flex"/>
              </a:rPr>
              <a:t>3
Out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5907024" y="1618488"/>
            <a:ext cx="475488" cy="274320"/>
          </a:xfrm>
          <a:prstGeom prst="rect">
            <a:avLst/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500" b="0" i="0">
                <a:solidFill>
                  <a:srgbClr val="202124"/>
                </a:solidFill>
                <a:latin typeface="Google Sans Flex"/>
              </a:rPr>
              <a:t>9
Overstocked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437375" y="1618488"/>
            <a:ext cx="475488" cy="274320"/>
          </a:xfrm>
          <a:prstGeom prst="rect">
            <a:avLst/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500" b="0" i="0">
                <a:solidFill>
                  <a:srgbClr val="202124"/>
                </a:solidFill>
                <a:latin typeface="Google Sans Flex"/>
              </a:rPr>
              <a:t>1,553
Healthy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846320" y="1965960"/>
            <a:ext cx="777240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1" i="0">
                <a:solidFill>
                  <a:srgbClr val="202124"/>
                </a:solidFill>
                <a:latin typeface="Google Sans Flex"/>
              </a:rPr>
              <a:t>Product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623559" y="1965960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1" i="0">
                <a:solidFill>
                  <a:srgbClr val="202124"/>
                </a:solidFill>
                <a:latin typeface="Google Sans Flex"/>
              </a:rPr>
              <a:t>On hand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961888" y="1965960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1" i="0">
                <a:solidFill>
                  <a:srgbClr val="202124"/>
                </a:solidFill>
                <a:latin typeface="Google Sans Flex"/>
              </a:rPr>
              <a:t>Days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00216" y="1965960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1" i="0">
                <a:solidFill>
                  <a:srgbClr val="202124"/>
                </a:solidFill>
                <a:latin typeface="Google Sans Flex"/>
              </a:rPr>
              <a:t>Fcst/wk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638544" y="1965960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1" i="0">
                <a:solidFill>
                  <a:srgbClr val="202124"/>
                </a:solidFill>
                <a:latin typeface="Google Sans Flex"/>
              </a:rPr>
              <a:t>Reorder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46320" y="2103120"/>
            <a:ext cx="777240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Aashirvaad Atta 5 kg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623559" y="2103120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42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961888" y="2103120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00216" y="2103120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48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638544" y="2103120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60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846320" y="2231136"/>
            <a:ext cx="777240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Aavin Toned Milk 500 ml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623559" y="2231136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C5221F"/>
                </a:solidFill>
                <a:latin typeface="Google Sans Flex"/>
              </a:rPr>
              <a:t>8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961888" y="2231136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300216" y="2231136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70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38544" y="2231136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120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846320" y="2359152"/>
            <a:ext cx="777240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India Gate Basmati 5 kg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623559" y="2359152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15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961888" y="2359152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9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300216" y="2359152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11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638544" y="2359152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20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46320" y="2487168"/>
            <a:ext cx="777240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Amul Butter 500 g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623559" y="2487168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C5221F"/>
                </a:solidFill>
                <a:latin typeface="Google Sans Flex"/>
              </a:rP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961888" y="2487168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00216" y="2487168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22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638544" y="2487168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30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846320" y="2615184"/>
            <a:ext cx="777240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Surf Excel 1 kg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623559" y="2615184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26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961888" y="2615184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14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300216" y="2615184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13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638544" y="2615184"/>
            <a:ext cx="338328" cy="128016"/>
          </a:xfrm>
          <a:prstGeom prst="rect">
            <a:avLst/>
          </a:prstGeom>
          <a:noFill/>
        </p:spPr>
        <p:txBody>
          <a:bodyPr wrap="square" anchor="t" lIns="9144" rIns="9144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50" b="0" i="0">
                <a:solidFill>
                  <a:srgbClr val="202124"/>
                </a:solidFill>
                <a:latin typeface="Google Sans Flex"/>
              </a:rPr>
              <a:t>15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846320" y="2770632"/>
            <a:ext cx="2057400" cy="146304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/>
            <a:r>
              <a:rPr sz="480" b="0" i="0">
                <a:solidFill>
                  <a:srgbClr val="1A73E8"/>
                </a:solidFill>
                <a:latin typeface="Google Sans Flex"/>
              </a:rPr>
              <a:t>Reorder draft ready: 2 suppliers, 7 lines, ₹18,420. Review and approve.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74320" y="4434840"/>
            <a:ext cx="16002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Assistant: talk or type, receipt always visible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148840" y="4434840"/>
            <a:ext cx="16002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Map lights the aisle and bay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023360" y="3246120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Owner dashboard: inventory with forecasts, days of cover and reorder drafts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023360" y="3749039"/>
            <a:ext cx="29260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202124"/>
                </a:solidFill>
                <a:latin typeface="Google Sans Flex"/>
              </a:rPr>
              <a:t>Mock-ups drawn to the live layouts. Shoppers see the receipt grow as they scan; the exit kiosk and the owner pages share the same catalog.</a:t>
            </a:r>
          </a:p>
        </p:txBody>
      </p:sp>
      <p:pic>
        <p:nvPicPr>
          <p:cNvPr id="189" name="Picture 188" descr="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1188720"/>
            <a:ext cx="1404176" cy="3200400"/>
          </a:xfrm>
          <a:prstGeom prst="rect">
            <a:avLst/>
          </a:prstGeom>
          <a:ln w="6350">
            <a:solidFill>
              <a:srgbClr val="DADCE0"/>
            </a:solidFill>
          </a:ln>
        </p:spPr>
      </p:pic>
      <p:sp>
        <p:nvSpPr>
          <p:cNvPr id="190" name="TextBox 189"/>
          <p:cNvSpPr txBox="1"/>
          <p:nvPr/>
        </p:nvSpPr>
        <p:spPr>
          <a:xfrm>
            <a:off x="7040879" y="4416552"/>
            <a:ext cx="1678495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Live: Tamil conversation on a phone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274320" y="1188720"/>
            <a:ext cx="8595360" cy="65836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02124"/>
                </a:solidFill>
                <a:latin typeface="Google Sans Flex"/>
              </a:rPr>
              <a:t>Clients</a:t>
            </a:r>
          </a:p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Shopper PWA on the phone (in store and online)  ·  Owner dashboard on laptop or phone  ·  Exit kiosk on a tablet. Static Next.js app on Firebase Hosting; Firebase Auth: Google and email for owners, phone OTP for shoppers who opt in.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4572000" y="1847088"/>
            <a:ext cx="0" cy="18288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ounded Rectangle 113"/>
          <p:cNvSpPr/>
          <p:nvPr/>
        </p:nvSpPr>
        <p:spPr>
          <a:xfrm>
            <a:off x="274320" y="201168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A73E8"/>
                </a:solidFill>
                <a:latin typeface="Google Sans Flex"/>
              </a:rPr>
              <a:t>Cloud Run: FastAPI + Google ADK agent teams</a:t>
            </a:r>
          </a:p>
          <a:p>
            <a:pPr algn="l" marL="118745" indent="-118745">
              <a:spcAft>
                <a:spcPts val="2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Coordinator agents route each turn to specialists (shopper: catalog, navigation, cart; owner: inventory planner, customers and offers, data connector, store ops); the owner briefing runs two scouts in parallel then a writer; research and mapping agents are called as tools</a:t>
            </a:r>
          </a:p>
          <a:p>
            <a:pPr algn="l" marL="118745" indent="-118745">
              <a:spcAft>
                <a:spcPts val="2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Gemini Live bridge over websockets: echo detection, transcript language hints, memory of record in Firestore</a:t>
            </a:r>
          </a:p>
          <a:p>
            <a:pPr algn="l" marL="118745" indent="-118745">
              <a:spcAft>
                <a:spcPts val="2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Product facts with Google Search grounding; connector readers for files, Sheets, APIs and databases</a:t>
            </a:r>
          </a:p>
          <a:p>
            <a:pPr algn="l" marL="118745" indent="-118745">
              <a:spcAft>
                <a:spcPts val="2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Signed sync in and out (HMAC, replay-safe), rate limits, audit on every change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5852160" y="201168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188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88A55"/>
                </a:solidFill>
                <a:latin typeface="Google Sans Flex"/>
              </a:rPr>
              <a:t>Vertex AI · Gemini</a:t>
            </a:r>
          </a:p>
          <a:p>
            <a:pPr algn="l" marL="118745" indent="-118745">
              <a:spcAft>
                <a:spcPts val="2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gemini-3.5-flash: tools, vision, mapping, facts</a:t>
            </a:r>
          </a:p>
          <a:p>
            <a:pPr algn="l" marL="118745" indent="-118745">
              <a:spcAft>
                <a:spcPts val="2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gemini-live-2.5-flash: speech to speech</a:t>
            </a:r>
          </a:p>
          <a:p>
            <a:pPr algn="l" marL="118745" indent="-118745">
              <a:spcAft>
                <a:spcPts val="2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gemini-embedding-001: multilingual search</a:t>
            </a:r>
          </a:p>
          <a:p>
            <a:pPr algn="l" marL="118745" indent="-118745">
              <a:spcAft>
                <a:spcPts val="2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Any of 25 languages, verified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669280" y="2606040"/>
            <a:ext cx="182880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>
            <a:off x="5669280" y="2788920"/>
            <a:ext cx="182880" cy="0"/>
          </a:xfrm>
          <a:prstGeom prst="line">
            <a:avLst/>
          </a:prstGeom>
          <a:ln w="15875">
            <a:solidFill>
              <a:srgbClr val="188A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971800" y="3383280"/>
            <a:ext cx="0" cy="13716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unded Rectangle 118"/>
          <p:cNvSpPr/>
          <p:nvPr/>
        </p:nvSpPr>
        <p:spPr>
          <a:xfrm>
            <a:off x="274320" y="3520440"/>
            <a:ext cx="2011680" cy="7772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Firestore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Inventory truth, orders, points ledger, memory, audit. Deny-all client rules.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441448" y="3520440"/>
            <a:ext cx="2011680" cy="7772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BigQuery ML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Sales history; ARIMA_PLUS forecasts per product, nightly.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608576" y="3520440"/>
            <a:ext cx="2011680" cy="7772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Cloud Scheduler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Forecasts, customer jobs, sync and connectors every 15 min.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75704" y="3520440"/>
            <a:ext cx="2011680" cy="7772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Secret Manager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QR signing key, job key, per-store payment, sync and connector secrets.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74320" y="4389120"/>
            <a:ext cx="8595360" cy="530352"/>
          </a:xfrm>
          <a:prstGeom prst="roundRect">
            <a:avLst>
              <a:gd name="adj" fmla="val 8000"/>
            </a:avLst>
          </a:prstGeom>
          <a:solidFill>
            <a:srgbClr val="FEF3E2"/>
          </a:solidFill>
          <a:ln w="9525">
            <a:solidFill>
              <a:srgbClr val="C26D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C26D00"/>
                </a:solidFill>
                <a:latin typeface="Google Sans Flex"/>
              </a:rPr>
              <a:t>Outside the platform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Shop's billing software, Google Sheets, POS APIs, Postgres/MySQL (through the connector agent and signed sync)  ·  Open Food Facts for barcodes  ·  Google Search grounding for product facts  ·  Razorpay (sandbox) for payment  ·  GitHub Actions CI with the Firestore emulator, Cloud Build source deploys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4572000" y="4297680"/>
            <a:ext cx="0" cy="91440"/>
          </a:xfrm>
          <a:prstGeom prst="line">
            <a:avLst/>
          </a:prstGeom>
          <a:ln w="15875">
            <a:solidFill>
              <a:srgbClr val="C26D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274320" y="1234440"/>
            <a:ext cx="2743200" cy="30632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88A55"/>
                </a:solidFill>
                <a:latin typeface="Google Sans Flex"/>
              </a:rPr>
              <a:t>Google Cloud and AI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Vertex AI Gemini 3.5 Flash (tools, vision, grounding)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Gemini Live 2.5 Flash (speech to speech)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gemini-embedding-001 (search)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Google ADK 2.12: coordinator, specialist, parallel and sequential agents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Cloud Run, Cloud Build, Cloud Scheduler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Firestore, BigQuery ML (ARIMA_PLUS)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Secret Manager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172968" y="1234440"/>
            <a:ext cx="2743200" cy="30632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</a:rPr>
              <a:t>Firebase and web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Firebase Hosting (static PWA, no-cache pages)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Firebase Auth: Google, email, phone OTP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Next.js 16, TypeScript, Tailwind v4, zustand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Web Audio + AudioWorklet for live voice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Barcode and QR scanning in the browser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Recharts, qrcode.react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071616" y="1234440"/>
            <a:ext cx="2743200" cy="3063240"/>
          </a:xfrm>
          <a:prstGeom prst="roundRect">
            <a:avLst>
              <a:gd name="adj" fmla="val 8000"/>
            </a:avLst>
          </a:prstGeom>
          <a:solidFill>
            <a:srgbClr val="FEF3E2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26D00"/>
                </a:solidFill>
                <a:latin typeface="Google Sans Flex"/>
              </a:rPr>
              <a:t>Backend and data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Python 3.13, FastAPI, google-genai SDK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SQLAlchemy, psycopg, PyMySQL, openpyxl, httpx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HMAC-signed sync contract, outbox with retries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Kaggle BigBasket and Myntra catalogues, Open Food Facts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pytest on the Firestore emulator (325 tests), vitest (30), GitHub Actions CI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Design notes per module in docs/lld, control map in docs/security.md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74320" y="438912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F6368"/>
                </a:solidFill>
                <a:latin typeface="Google Sans Flex"/>
              </a:rPr>
              <a:t>Why these: Gemini for language, vision, grounding and proposals; Firestore transactions for anything that counts or pays; BigQuery ML for forecasts without an ML pipeline; Cloud Run so one shop costs a warm instance, not a server.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74320" y="118872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F6368"/>
                </a:solidFill>
                <a:latin typeface="Google Sans Flex"/>
              </a:rPr>
              <a:t>Indicative monthly cost for one shop at pilot scale (about 300 visits a day, one warm API instance, asia-south1). List prices change; usage-based lines scale with conversations.</a:t>
            </a:r>
          </a:p>
        </p:txBody>
      </p:sp>
      <p:graphicFrame>
        <p:nvGraphicFramePr>
          <p:cNvPr id="129" name="Table 128"/>
          <p:cNvGraphicFramePr>
            <a:graphicFrameLocks noGrp="1"/>
          </p:cNvGraphicFramePr>
          <p:nvPr/>
        </p:nvGraphicFramePr>
        <p:xfrm>
          <a:off x="274320" y="1691640"/>
          <a:ext cx="8595360" cy="2779776"/>
        </p:xfrm>
        <a:graphic>
          <a:graphicData uri="http://schemas.openxmlformats.org/drawingml/2006/table">
            <a:tbl>
              <a:tblPr firstRow="1" bandRow="1"/>
              <a:tblGrid>
                <a:gridCol w="1737360"/>
                <a:gridCol w="4846320"/>
                <a:gridCol w="2011680"/>
              </a:tblGrid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</a:rPr>
                        <a:t>Component</a:t>
                      </a:r>
                    </a:p>
                  </a:txBody>
                  <a:tcPr marL="54864" marR="54864" marT="27432" marB="27432">
                    <a:solidFill>
                      <a:srgbClr val="E8F0F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</a:rPr>
                        <a:t>What drives it</a:t>
                      </a:r>
                    </a:p>
                  </a:txBody>
                  <a:tcPr marL="54864" marR="54864" marT="27432" marB="27432">
                    <a:solidFill>
                      <a:srgbClr val="E8F0F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</a:rPr>
                        <a:t>Indicative cost per month</a:t>
                      </a:r>
                    </a:p>
                  </a:txBody>
                  <a:tcPr marL="54864" marR="54864" marT="27432" marB="27432">
                    <a:solidFill>
                      <a:srgbClr val="E8F0F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Cloud Run API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One warm instance (1 vCPU, 1 GiB), scales to three under load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₹1,200 to ₹2,500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Gemini usage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Voice: about ₹5 per visit of 8 turns. Text: under ₹0.50 per question. Forecast rationale and mapping: a few paise each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₹4,000 to ₹12,000 depending on voice share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Firestore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Catalog, carts, orders, memory; mostly inside the free tier at this scale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₹0 to ₹500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BigQuery ML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Nightly ARIMA_PLUS retraining per store, small tables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₹0 to ₹300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Firebase Hosting and Auth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Static hosting, Google and email sign-in free; phone OTP per SMS beyond the free allowance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₹0 to ₹500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Scheduler, Secret Manager, Build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Three jobs, a handful of secrets, source deploys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under ₹200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Platform fixed cost plus usage; no per-seat licence, no hardware beyond a phone and an optional tablet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about ₹6,000 to ₹16,000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188720"/>
            <a:ext cx="1424235" cy="3246120"/>
          </a:xfrm>
          <a:prstGeom prst="rect">
            <a:avLst/>
          </a:prstGeom>
          <a:ln w="6350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182879" y="4462272"/>
            <a:ext cx="1698555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Shopper assistant in Tamil, headphones detected, live voice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103120" y="1188720"/>
            <a:ext cx="6766560" cy="150876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188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88A55"/>
                </a:solidFill>
                <a:latin typeface="Google Sans Flex"/>
              </a:rPr>
              <a:t>What the live product shows today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Shopper (phone): entrance QR, live voice with interruption and echo guard, text chat with photos, product facts with sources, map, scan-first cart, offers, points, checkout, receipt QR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Owner (laptop or phone): today's sales, inventory with forecasts and reorder drafts, demand signals, customers, offers, loss view, floor-map editor, connector agent, owner assistant by voice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Exit kiosk (tablet): receipt scan, bag check, clear / spot check / flag with a staff PIN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103120" y="2834640"/>
            <a:ext cx="3291840" cy="201168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A73E8"/>
                </a:solidFill>
                <a:latin typeface="Google Sans Flex"/>
              </a:rPr>
              <a:t>See it yourself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royastacxk-aibuildercup.web.app: open the shopper app on a phone; the demo store has 1,579 products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/owner/: register a shop of your own in a minute with Google or email; import an export through Connectors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/kiosk/: the exit kiosk flow (store id and PIN from the owner's Loss tab)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577840" y="2834640"/>
            <a:ext cx="3291840" cy="2011680"/>
          </a:xfrm>
          <a:prstGeom prst="roundRect">
            <a:avLst>
              <a:gd name="adj" fmla="val 8000"/>
            </a:avLst>
          </a:prstGeom>
          <a:solidFill>
            <a:srgbClr val="FEF3E2"/>
          </a:solidFill>
          <a:ln w="9525">
            <a:solidFill>
              <a:srgbClr val="C26D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C26D00"/>
                </a:solidFill>
                <a:latin typeface="Google Sans Flex"/>
              </a:rPr>
              <a:t>Demo data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Royal Stack Supermarket: 1,579 grocery products, six aisles plus chiller and freezer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Captain Jack Mart: 300 BigBasket products; Kingsman Textiles: 1,046 Myntra products</a:t>
            </a:r>
          </a:p>
          <a:p>
            <a:pPr algn="l" marL="132715" indent="-132715">
              <a:spcAft>
                <a:spcPts val="200"/>
              </a:spcAft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Synthetic sales history behind the forecasts; Open Food Facts for real barcodes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74320" y="1188720"/>
            <a:ext cx="8595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F6368"/>
                </a:solidFill>
                <a:latin typeface="Google Sans Flex"/>
              </a:rPr>
              <a:t>Measured on the deployed service on 18 Oct 2026, from a laptop in India, medians of three runs.</a:t>
            </a:r>
          </a:p>
        </p:txBody>
      </p:sp>
      <p:graphicFrame>
        <p:nvGraphicFramePr>
          <p:cNvPr id="145" name="Table 144"/>
          <p:cNvGraphicFramePr>
            <a:graphicFrameLocks noGrp="1"/>
          </p:cNvGraphicFramePr>
          <p:nvPr/>
        </p:nvGraphicFramePr>
        <p:xfrm>
          <a:off x="274320" y="1554480"/>
          <a:ext cx="8595360" cy="3319272"/>
        </p:xfrm>
        <a:graphic>
          <a:graphicData uri="http://schemas.openxmlformats.org/drawingml/2006/table">
            <a:tbl>
              <a:tblPr firstRow="1" bandRow="1"/>
              <a:tblGrid>
                <a:gridCol w="4572000"/>
                <a:gridCol w="4023360"/>
              </a:tblGrid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</a:rPr>
                        <a:t>Measure</a:t>
                      </a:r>
                    </a:p>
                  </a:txBody>
                  <a:tcPr marL="54864" marR="54864" marT="27432" marB="27432">
                    <a:solidFill>
                      <a:srgbClr val="E8F0F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</a:rPr>
                        <a:t>Result</a:t>
                      </a:r>
                    </a:p>
                  </a:txBody>
                  <a:tcPr marL="54864" marR="54864" marT="27432" marB="27432"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Catalog read (store, 1,579 products)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154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Text question with tool calls, first visible response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2.0 to 2.8 s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Text question, full answer streamed (search, stock, cart add)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7 to 11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Live voice: first spoken audio after the question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3.3 s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Live voice: a 21-second spoken answer fully delivered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6.2 s (streams while it speaks)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Catalog refresh across API instances after a stock change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within 2 s (version counter)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Languages accepted by the live model for transcription hints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25 verified; Tamil speech shown in Tamil script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Loudspeaker echo loop (assistant interrupting itself)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Eliminated: browser echo guard plus server text and timing detection, field tested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Automated tests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325 backend on the Firestore emulator, 30 frontend; live-model scenarios for voice, Tamil, owner language switch and grounded facts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Demo catalogue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</a:rPr>
                        <a:t>2,925 products across three stores (grocery 1,579; BigBasket 300; Myntra textiles 1,046) with embeddings and forecasts</a:t>
                      </a:r>
                    </a:p>
                  </a:txBody>
                  <a:tcPr marL="54864" marR="54864" marT="27432" marB="27432">
                    <a:solidFill>
                      <a:srgbClr val="F1F3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274320" y="1234440"/>
            <a:ext cx="2743200" cy="324612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88A55"/>
                </a:solidFill>
                <a:latin typeface="Google Sans Flex"/>
              </a:rPr>
              <a:t>Next 30 days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Named adapters on the connector agent: Shopify, Zoho Inventory, Tally Prime exports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Owner screen for the audit trail and connector runs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GST invoices and returns against a receipt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90-day retention job for verification records and transcripts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3172968" y="1234440"/>
            <a:ext cx="2743200" cy="32461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</a:rPr>
              <a:t>Next quarter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MCP server so any external shopping assistant can search, reserve and buy from a Royal Stack store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Supplier portal: purchase orders sent and acknowledged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Shelf-camera stock checks feeding the same forecast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Store-to-store transfers for owners with several shops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071616" y="1234440"/>
            <a:ext cx="2743200" cy="3246120"/>
          </a:xfrm>
          <a:prstGeom prst="roundRect">
            <a:avLst>
              <a:gd name="adj" fmla="val 8000"/>
            </a:avLst>
          </a:prstGeom>
          <a:solidFill>
            <a:srgbClr val="FEF3E2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26D00"/>
                </a:solidFill>
                <a:latin typeface="Google Sans Flex"/>
              </a:rPr>
              <a:t>Pilots and the business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Self-service registration is open today; a shop is live in a minute with its own export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Pricing idea: a flat platform fee per shop plus usage, no hardware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Target: neighbourhood supermarkets and textile shops in Tamil Nadu first, then any JAPAC market the model speaks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Measure: lost-sale signals recovered, shrink reduced, queue time removed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74320" y="4572000"/>
            <a:ext cx="8595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F6368"/>
                </a:solidFill>
                <a:latin typeface="Google Sans Flex"/>
              </a:rPr>
              <a:t>The platform is self-service today: a new shop registers, imports its export through the connector agent, prints its QR codes and is live.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274320" y="2103120"/>
            <a:ext cx="85953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202124"/>
                </a:solidFill>
                <a:latin typeface="Google Sans Flex"/>
              </a:rPr>
              <a:t>GitHub public repository:  </a:t>
            </a:r>
            <a:r>
              <a:rPr sz="1300" b="0" i="0">
                <a:solidFill>
                  <a:srgbClr val="1A73E8"/>
                </a:solidFill>
                <a:latin typeface="Google Sans Flex"/>
              </a:rPr>
              <a:t>https://github.com/DSsathish/royalstack_aibuilderhackathon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202124"/>
                </a:solidFill>
                <a:latin typeface="Google Sans Flex"/>
              </a:rPr>
              <a:t>Demo video (3 minutes):  </a:t>
            </a:r>
            <a:r>
              <a:rPr sz="1300" b="0" i="0">
                <a:solidFill>
                  <a:srgbClr val="C5221F"/>
                </a:solidFill>
                <a:latin typeface="Google Sans Flex"/>
              </a:rPr>
              <a:t>Demo video: link to be added after recording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02124"/>
                </a:solidFill>
                <a:latin typeface="Google Sans Flex"/>
              </a:rPr>
              <a:t>Final product link:  </a:t>
            </a:r>
            <a:r>
              <a:rPr sz="1300" b="0" i="0">
                <a:solidFill>
                  <a:srgbClr val="1A73E8"/>
                </a:solidFill>
                <a:latin typeface="Google Sans Flex"/>
              </a:rPr>
              <a:t>https://royastacxk-aibuildercup.web.app</a:t>
            </a:r>
          </a:p>
          <a:p>
            <a:pPr algn="l">
              <a:spcAft>
                <a:spcPts val="1000"/>
              </a:spcAft>
            </a:pPr>
            <a:r>
              <a:rPr sz="1050" b="0" i="0">
                <a:solidFill>
                  <a:srgbClr val="5F6368"/>
                </a:solidFill>
                <a:latin typeface="Google Sans Flex"/>
              </a:rPr>
              <a:t>Owner dashboard at /owner/ (self-service registration), exit kiosk at /kiosk/. Demo store: Royal Stack Supermarket.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02124"/>
                </a:solidFill>
                <a:latin typeface="Google Sans Flex"/>
              </a:rPr>
              <a:t>API and docs:  </a:t>
            </a:r>
            <a:r>
              <a:rPr sz="1300" b="0" i="0">
                <a:solidFill>
                  <a:srgbClr val="1A73E8"/>
                </a:solidFill>
                <a:latin typeface="Google Sans Flex"/>
              </a:rPr>
              <a:t>https://retail-api-881917398995.asia-south1.run.app/docs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F6368"/>
                </a:solidFill>
                <a:latin typeface="Google Sans Flex"/>
              </a:rPr>
              <a:t>Design notes in docs/lld, control map in docs/security.md, demo script in docs/demo-script.md.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274320" y="640080"/>
            <a:ext cx="85953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02124"/>
                </a:solidFill>
                <a:latin typeface="Google Sans Flex"/>
              </a:rPr>
              <a:t>Trust, safety and privacy by design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128016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88A55"/>
                </a:solidFill>
                <a:latin typeface="Google Sans Flex"/>
              </a:rPr>
              <a:t>The model talks, code decides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Coordinators only route; specialists only act through tools; stock, prices and locations come from tool results, never from memory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Discounts, points and exit verdicts are rules and arithmetic inside Firestore transactions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Every stock change, order or offer waits for the owner's confirmation; all of it audited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172968" y="128016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</a:rPr>
              <a:t>Guardrails on the open web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Product facts: product topics only, citations required, 200-character questions, a budget per visit, nothing about the shopper sent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Connector agent: https only, public addresses only, read-only database access, credentials in Secret Manager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Prompt-injection stance: web pages and files are data, never instructions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071616" y="128016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EF3E2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26D00"/>
                </a:solidFill>
                <a:latin typeface="Google Sans Flex"/>
              </a:rPr>
              <a:t>Privacy and access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Shoppers see only the last four digits of their number; they can export or delete everything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Spoken turns stay on the phone; the exit bag photo keeps only a hash, a confidence and item names</a:t>
            </a:r>
          </a:p>
          <a:p>
            <a:pPr algn="l" marL="139700" indent="-139700">
              <a:spcAft>
                <a:spcPts val="200"/>
              </a:spcAft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Roles for owner, staff, shopper and guest; signed entrance and receipt tokens; kiosk PIN lockout; rate limits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74320" y="4480560"/>
            <a:ext cx="8595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F6368"/>
                </a:solidFill>
                <a:latin typeface="Google Sans Flex"/>
              </a:rPr>
              <a:t>docs/security.md in the repository maps every control to its code path and its test, and lists the known gaps.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