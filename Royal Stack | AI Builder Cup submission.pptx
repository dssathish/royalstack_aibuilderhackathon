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085bff3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b085bff3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rP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r>
              <a:rPr lang="en-GB" sz="1800" b="1">
                <a:latin typeface="Google Sans Flex"/>
                <a:ea typeface="Google Sans Flex"/>
                <a:cs typeface="Google Sans Flex"/>
                <a:sym typeface="Google Sans Flex"/>
              </a:rPr>
              <a:t>Royal Stack</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r>
              <a:rPr lang="en-GB" sz="1800" b="1">
                <a:latin typeface="Google Sans Flex"/>
                <a:ea typeface="Google Sans Flex"/>
                <a:cs typeface="Google Sans Flex"/>
                <a:sym typeface="Google Sans Flex"/>
              </a:rPr>
              <a:t>SATHISHKUMAR S</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r>
              <a:rPr lang="en-GB" sz="1300">
                <a:latin typeface="Google Sans Flex"/>
                <a:ea typeface="Google Sans Flex"/>
                <a:cs typeface="Google Sans Flex"/>
                <a:sym typeface="Google Sans Flex"/>
              </a:rPr>
              <a:t>Retail &amp; Commerce. Small and mid-size Indian retailers run on billing software: shoppers get no help in the aisle, owners guess their reorders, and nothing is connected. Royal Stack is one AI commerce agent on one inventory truth, serving the store visit, the online shop and the owner's dashboard.</a:t>
            </a:r>
          </a:p>
          <a:p>
            <a:pPr indent="0" lvl="0" marL="0" rtl="0" algn="l">
              <a:spcBef>
                <a:spcPts val="0"/>
              </a:spcBef>
              <a:spcAft>
                <a:spcPts val="0"/>
              </a:spcAft>
              <a:buNone/>
            </a:pPr>
            <a:r>
              <a:rP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274320" y="1170432"/>
            <a:ext cx="8595360" cy="1005840"/>
          </a:xfrm>
          <a:prstGeom prst="rect">
            <a:avLst/>
          </a:prstGeom>
          <a:noFill/>
        </p:spPr>
        <p:txBody>
          <a:bodyPr wrap="square" anchor="t" lIns="45720" rIns="45720" tIns="27432" bIns="27432">
            <a:spAutoFit/>
          </a:bodyPr>
          <a:lstStyle/>
          <a:p>
            <a:pPr algn="l">
              <a:spcAft>
                <a:spcPts val="400"/>
              </a:spcAft>
            </a:pPr>
            <a:r>
              <a:rPr sz="1500" b="1" i="0">
                <a:solidFill>
                  <a:srgbClr val="202124"/>
                </a:solidFill>
                <a:latin typeface="Google Sans Flex"/>
              </a:rPr>
              <a:t>Royal Stack: </a:t>
            </a:r>
            <a:r>
              <a:rPr sz="1500" b="0" i="0">
                <a:solidFill>
                  <a:srgbClr val="202124"/>
                </a:solidFill>
                <a:latin typeface="Google Sans Flex"/>
              </a:rPr>
              <a:t>one AI commerce agent, one inventory truth.</a:t>
            </a:r>
          </a:p>
          <a:p>
            <a:pPr algn="l">
              <a:spcAft>
                <a:spcPts val="400"/>
              </a:spcAft>
            </a:pPr>
            <a:r>
              <a:rPr sz="1100" b="0" i="0">
                <a:solidFill>
                  <a:srgbClr val="202124"/>
                </a:solidFill>
                <a:latin typeface="Google Sans Flex"/>
              </a:rPr>
              <a:t>One Gemini agent team serves the shopper in the store and online and runs the owner's inventory on one stock record, filled from the software the shop already runs. Two shopper experiences share one session, cart and checkout: the store visit (entrance QR, voice assistant with map and aisle directions, scan to add, exit kiosk) and the online shop (product-first home, product sheet with label facts and price comparison, cart, checkout). The owner runs forecasts, reorders, demand signals, customers and integrations on one dashboard.</a:t>
            </a:r>
          </a:p>
        </p:txBody>
      </p:sp>
      <p:sp>
        <p:nvSpPr>
          <p:cNvPr id="73" name="Rounded Rectangle 72"/>
          <p:cNvSpPr/>
          <p:nvPr/>
        </p:nvSpPr>
        <p:spPr>
          <a:xfrm>
            <a:off x="274320" y="2377440"/>
            <a:ext cx="2743200" cy="201168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188A55"/>
                </a:solidFill>
                <a:latin typeface="Google Sans Flex"/>
              </a:rPr>
              <a:t>In the aisle</a:t>
            </a:r>
          </a:p>
        </p:txBody>
      </p:sp>
      <p:sp>
        <p:nvSpPr>
          <p:cNvPr id="74" name="TextBox 73"/>
          <p:cNvSpPr txBox="1"/>
          <p:nvPr/>
        </p:nvSpPr>
        <p:spPr>
          <a:xfrm>
            <a:off x="320040" y="2697480"/>
            <a:ext cx="2651760" cy="1691640"/>
          </a:xfrm>
          <a:prstGeom prst="rect">
            <a:avLst/>
          </a:prstGeom>
          <a:noFill/>
        </p:spPr>
        <p:txBody>
          <a:bodyPr wrap="square" anchor="t" lIns="45720" rIns="45720" tIns="27432" bIns="27432">
            <a:spAutoFit/>
          </a:bodyPr>
          <a:lstStyle/>
          <a:p>
            <a:pPr algn="l">
              <a:spcAft>
                <a:spcPts val="500"/>
              </a:spcAft>
            </a:pPr>
            <a:r>
              <a:rPr sz="1000" b="1" i="0">
                <a:solidFill>
                  <a:srgbClr val="202124"/>
                </a:solidFill>
                <a:latin typeface="Google Sans Flex"/>
              </a:rPr>
              <a:t>The gap: </a:t>
            </a:r>
            <a:r>
              <a:rPr sz="1000" b="0" i="0">
                <a:solidFill>
                  <a:srgbClr val="202124"/>
                </a:solidFill>
                <a:latin typeface="Google Sans Flex"/>
              </a:rPr>
              <a:t>No one to ask, no answer in the shopper's language, a queue at the end.</a:t>
            </a:r>
          </a:p>
          <a:p>
            <a:pPr algn="l">
              <a:spcAft>
                <a:spcPts val="400"/>
              </a:spcAft>
            </a:pPr>
            <a:r>
              <a:rPr sz="1000" b="1" i="0">
                <a:solidFill>
                  <a:srgbClr val="202124"/>
                </a:solidFill>
                <a:latin typeface="Google Sans Flex"/>
              </a:rPr>
              <a:t>What we built: </a:t>
            </a:r>
            <a:r>
              <a:rPr sz="1000" b="0" i="0">
                <a:solidFill>
                  <a:srgbClr val="202124"/>
                </a:solidFill>
                <a:latin typeface="Google Sans Flex"/>
              </a:rPr>
              <a:t>The store visit: entrance QR, no install; voice assistant in 25 languages with map and aisle directions; scan to add; exit kiosk with seven verification layers.</a:t>
            </a:r>
          </a:p>
        </p:txBody>
      </p:sp>
      <p:sp>
        <p:nvSpPr>
          <p:cNvPr id="75" name="Rounded Rectangle 74"/>
          <p:cNvSpPr/>
          <p:nvPr/>
        </p:nvSpPr>
        <p:spPr>
          <a:xfrm>
            <a:off x="3172968" y="2377440"/>
            <a:ext cx="2743200" cy="201168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1A73E8"/>
                </a:solidFill>
                <a:latin typeface="Google Sans Flex"/>
              </a:rPr>
              <a:t>Online</a:t>
            </a:r>
          </a:p>
        </p:txBody>
      </p:sp>
      <p:sp>
        <p:nvSpPr>
          <p:cNvPr id="76" name="TextBox 75"/>
          <p:cNvSpPr txBox="1"/>
          <p:nvPr/>
        </p:nvSpPr>
        <p:spPr>
          <a:xfrm>
            <a:off x="3218687" y="2697480"/>
            <a:ext cx="2651760" cy="1691640"/>
          </a:xfrm>
          <a:prstGeom prst="rect">
            <a:avLst/>
          </a:prstGeom>
          <a:noFill/>
        </p:spPr>
        <p:txBody>
          <a:bodyPr wrap="square" anchor="t" lIns="45720" rIns="45720" tIns="27432" bIns="27432">
            <a:spAutoFit/>
          </a:bodyPr>
          <a:lstStyle/>
          <a:p>
            <a:pPr algn="l">
              <a:spcAft>
                <a:spcPts val="500"/>
              </a:spcAft>
            </a:pPr>
            <a:r>
              <a:rPr sz="1000" b="1" i="0">
                <a:solidFill>
                  <a:srgbClr val="202124"/>
                </a:solidFill>
                <a:latin typeface="Google Sans Flex"/>
              </a:rPr>
              <a:t>The gap: </a:t>
            </a:r>
            <a:r>
              <a:rPr sz="1000" b="0" i="0">
                <a:solidFill>
                  <a:srgbClr val="202124"/>
                </a:solidFill>
                <a:latin typeface="Google Sans Flex"/>
              </a:rPr>
              <a:t>A small shop's online store, when it has one, does not know the shelf stock and has no assistant.</a:t>
            </a:r>
          </a:p>
          <a:p>
            <a:pPr algn="l">
              <a:spcAft>
                <a:spcPts val="400"/>
              </a:spcAft>
            </a:pPr>
            <a:r>
              <a:rPr sz="1000" b="1" i="0">
                <a:solidFill>
                  <a:srgbClr val="202124"/>
                </a:solidFill>
                <a:latin typeface="Google Sans Flex"/>
              </a:rPr>
              <a:t>What we built: </a:t>
            </a:r>
            <a:r>
              <a:rPr sz="1000" b="0" i="0">
                <a:solidFill>
                  <a:srgbClr val="202124"/>
                </a:solidFill>
                <a:latin typeface="Google Sans Flex"/>
              </a:rPr>
              <a:t>The online shop on the same session, cart and checkout: categories, deals, trending from real orders, picks for signed-in shoppers, label facts with citations, price comparison across providers.</a:t>
            </a:r>
          </a:p>
        </p:txBody>
      </p:sp>
      <p:sp>
        <p:nvSpPr>
          <p:cNvPr id="77" name="Rounded Rectangle 76"/>
          <p:cNvSpPr/>
          <p:nvPr/>
        </p:nvSpPr>
        <p:spPr>
          <a:xfrm>
            <a:off x="6071616" y="2377440"/>
            <a:ext cx="2743200" cy="201168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C26D00"/>
                </a:solidFill>
                <a:latin typeface="Google Sans Flex"/>
              </a:rPr>
              <a:t>In the back office</a:t>
            </a:r>
          </a:p>
        </p:txBody>
      </p:sp>
      <p:sp>
        <p:nvSpPr>
          <p:cNvPr id="78" name="TextBox 77"/>
          <p:cNvSpPr txBox="1"/>
          <p:nvPr/>
        </p:nvSpPr>
        <p:spPr>
          <a:xfrm>
            <a:off x="6117336" y="2697480"/>
            <a:ext cx="2651760" cy="1691640"/>
          </a:xfrm>
          <a:prstGeom prst="rect">
            <a:avLst/>
          </a:prstGeom>
          <a:noFill/>
        </p:spPr>
        <p:txBody>
          <a:bodyPr wrap="square" anchor="t" lIns="45720" rIns="45720" tIns="27432" bIns="27432">
            <a:spAutoFit/>
          </a:bodyPr>
          <a:lstStyle/>
          <a:p>
            <a:pPr algn="l">
              <a:spcAft>
                <a:spcPts val="500"/>
              </a:spcAft>
            </a:pPr>
            <a:r>
              <a:rPr sz="1000" b="1" i="0">
                <a:solidFill>
                  <a:srgbClr val="202124"/>
                </a:solidFill>
                <a:latin typeface="Google Sans Flex"/>
              </a:rPr>
              <a:t>The gap: </a:t>
            </a:r>
            <a:r>
              <a:rPr sz="1000" b="0" i="0">
                <a:solidFill>
                  <a:srgbClr val="202124"/>
                </a:solidFill>
                <a:latin typeface="Google Sans Flex"/>
              </a:rPr>
              <a:t>Reorders from memory, demand noticed after the sale is lost, stock data locked inside billing software.</a:t>
            </a:r>
          </a:p>
          <a:p>
            <a:pPr algn="l">
              <a:spcAft>
                <a:spcPts val="400"/>
              </a:spcAft>
            </a:pPr>
            <a:r>
              <a:rPr sz="1000" b="1" i="0">
                <a:solidFill>
                  <a:srgbClr val="202124"/>
                </a:solidFill>
                <a:latin typeface="Google Sans Flex"/>
              </a:rPr>
              <a:t>What we built: </a:t>
            </a:r>
            <a:r>
              <a:rPr sz="1000" b="0" i="0">
                <a:solidFill>
                  <a:srgbClr val="202124"/>
                </a:solidFill>
                <a:latin typeface="Google Sans Flex"/>
              </a:rPr>
              <a:t>Owner dashboard with BigQuery ML forecasts, reorder drafts with a Gemini rationale, demand signals and customer segments; a connector agent that brings files, sheets, API feeds, databases and MCP servers in.</a:t>
            </a:r>
          </a:p>
        </p:txBody>
      </p:sp>
      <p:sp>
        <p:nvSpPr>
          <p:cNvPr id="79" name="TextBox 78"/>
          <p:cNvSpPr txBox="1"/>
          <p:nvPr/>
        </p:nvSpPr>
        <p:spPr>
          <a:xfrm>
            <a:off x="274320" y="4480560"/>
            <a:ext cx="8595360" cy="411480"/>
          </a:xfrm>
          <a:prstGeom prst="rect">
            <a:avLst/>
          </a:prstGeom>
          <a:noFill/>
        </p:spPr>
        <p:txBody>
          <a:bodyPr wrap="square" anchor="t" lIns="45720" rIns="45720" tIns="27432" bIns="27432">
            <a:spAutoFit/>
          </a:bodyPr>
          <a:lstStyle/>
          <a:p>
            <a:pPr algn="l">
              <a:spcAft>
                <a:spcPts val="400"/>
              </a:spcAft>
            </a:pPr>
            <a:r>
              <a:rPr sz="1050" b="0" i="1">
                <a:solidFill>
                  <a:srgbClr val="5F6368"/>
                </a:solidFill>
                <a:latin typeface="Google Sans Flex"/>
              </a:rPr>
              <a:t>Everything on these slides is deployed at royastacxk-aibuildercup.web.app on Google Cloud with Gemini. Nothing here is planned-only.</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55778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274320" y="1280160"/>
            <a:ext cx="2743200" cy="324612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188A55"/>
                </a:solidFill>
                <a:latin typeface="Google Sans Flex"/>
              </a:rPr>
              <a:t>How it differs from existing ideas</a:t>
            </a:r>
          </a:p>
          <a:p>
            <a:pPr algn="l" marL="139700" indent="-139700">
              <a:spcAft>
                <a:spcPts val="400"/>
              </a:spcAft>
              <a:buChar char="•"/>
            </a:pPr>
            <a:r>
              <a:rPr sz="1000" b="0" i="0">
                <a:solidFill>
                  <a:srgbClr val="202124"/>
                </a:solidFill>
                <a:latin typeface="Google Sans Flex"/>
              </a:rPr>
              <a:t>Most retail AI is a chatbot on one channel. Royal Stack is an agent team on Google ADK (a coordinator plus specialists on Gemini) that serves the store visit, the online shop and the owner on one inventory truth.</a:t>
            </a:r>
          </a:p>
          <a:p>
            <a:pPr algn="l" marL="139700" indent="-139700">
              <a:spcAft>
                <a:spcPts val="400"/>
              </a:spcAft>
              <a:buChar char="•"/>
            </a:pPr>
            <a:r>
              <a:rPr sz="1000" b="0" i="0">
                <a:solidFill>
                  <a:srgbClr val="202124"/>
                </a:solidFill>
                <a:latin typeface="Google Sans Flex"/>
              </a:rPr>
              <a:t>Real-time speech to speech on Gemini Live in 25 languages; typed lines join the same spoken conversation; every fact comes from a tool over the live catalog.</a:t>
            </a:r>
          </a:p>
          <a:p>
            <a:pPr algn="l" marL="139700" indent="-139700">
              <a:spcAft>
                <a:spcPts val="400"/>
              </a:spcAft>
              <a:buChar char="•"/>
            </a:pPr>
            <a:r>
              <a:rPr sz="1000" b="0" i="0">
                <a:solidFill>
                  <a:srgbClr val="202124"/>
                </a:solidFill>
                <a:latin typeface="Google Sans Flex"/>
              </a:rPr>
              <a:t>The shop's catalog is itself an MCP server (/mcp/stores/{store_id}), and the shop can connect any MCP provider to compare prices.</a:t>
            </a:r>
          </a:p>
        </p:txBody>
      </p:sp>
      <p:sp>
        <p:nvSpPr>
          <p:cNvPr id="81" name="Rounded Rectangle 80"/>
          <p:cNvSpPr/>
          <p:nvPr/>
        </p:nvSpPr>
        <p:spPr>
          <a:xfrm>
            <a:off x="3172968" y="1280160"/>
            <a:ext cx="2743200" cy="324612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1A73E8"/>
                </a:solidFill>
                <a:latin typeface="Google Sans Flex"/>
              </a:rPr>
              <a:t>How it solves the problem</a:t>
            </a:r>
          </a:p>
          <a:p>
            <a:pPr algn="l" marL="139700" indent="-139700">
              <a:spcAft>
                <a:spcPts val="400"/>
              </a:spcAft>
              <a:buChar char="•"/>
            </a:pPr>
            <a:r>
              <a:rPr sz="1000" b="0" i="0">
                <a:solidFill>
                  <a:srgbClr val="202124"/>
                </a:solidFill>
                <a:latin typeface="Google Sans Flex"/>
              </a:rPr>
              <a:t>Shoppers get stock, price, aisle directions and label facts with citations from tools, never guessed; out-of-stock items come with alternatives.</a:t>
            </a:r>
          </a:p>
          <a:p>
            <a:pPr algn="l" marL="139700" indent="-139700">
              <a:spcAft>
                <a:spcPts val="400"/>
              </a:spcAft>
              <a:buChar char="•"/>
            </a:pPr>
            <a:r>
              <a:rPr sz="1000" b="0" i="0">
                <a:solidFill>
                  <a:srgbClr val="202124"/>
                </a:solidFill>
                <a:latin typeface="Google Sans Flex"/>
              </a:rPr>
              <a:t>Owners get ARIMA_PLUS forecasts, days of cover, reorder drafts grouped by supplier with a rationale, demand signals and customer segments; nothing changes without approval.</a:t>
            </a:r>
          </a:p>
          <a:p>
            <a:pPr algn="l" marL="139700" indent="-139700">
              <a:spcAft>
                <a:spcPts val="400"/>
              </a:spcAft>
              <a:buChar char="•"/>
            </a:pPr>
            <a:r>
              <a:rPr sz="1000" b="0" i="0">
                <a:solidFill>
                  <a:srgbClr val="202124"/>
                </a:solidFill>
                <a:latin typeface="Google Sans Flex"/>
              </a:rPr>
              <a:t>Inventory comes from what the shop already has: Excel template, Google Sheets copy, checked upload, scan, API feeds, databases, MCP servers. One taxonomy chain is applied at every import, so search, the map and spoken directions agree.</a:t>
            </a:r>
          </a:p>
        </p:txBody>
      </p:sp>
      <p:sp>
        <p:nvSpPr>
          <p:cNvPr id="82" name="Rounded Rectangle 81"/>
          <p:cNvSpPr/>
          <p:nvPr/>
        </p:nvSpPr>
        <p:spPr>
          <a:xfrm>
            <a:off x="6071616" y="1280160"/>
            <a:ext cx="2743200" cy="324612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50" b="1" i="0">
                <a:solidFill>
                  <a:srgbClr val="C26D00"/>
                </a:solidFill>
                <a:latin typeface="Google Sans Flex"/>
              </a:rPr>
              <a:t>USP</a:t>
            </a:r>
          </a:p>
          <a:p>
            <a:pPr algn="l" marL="139700" indent="-139700">
              <a:spcAft>
                <a:spcPts val="400"/>
              </a:spcAft>
              <a:buChar char="•"/>
            </a:pPr>
            <a:r>
              <a:rPr sz="1000" b="0" i="0">
                <a:solidFill>
                  <a:srgbClr val="202124"/>
                </a:solidFill>
                <a:latin typeface="Google Sans Flex"/>
              </a:rPr>
              <a:t>The model talks, code decides: prices, stock, discounts, points and exit verdicts are code inside transactions; Gemini handles language, vision, grounding and proposals.</a:t>
            </a:r>
          </a:p>
          <a:p>
            <a:pPr algn="l" marL="139700" indent="-139700">
              <a:spcAft>
                <a:spcPts val="400"/>
              </a:spcAft>
              <a:buChar char="•"/>
            </a:pPr>
            <a:r>
              <a:rPr sz="1000" b="0" i="0">
                <a:solidFill>
                  <a:srgbClr val="202124"/>
                </a:solidFill>
                <a:latin typeface="Google Sans Flex"/>
              </a:rPr>
              <a:t>One session, cart and checkout across the store visit and the online shop.</a:t>
            </a:r>
          </a:p>
          <a:p>
            <a:pPr algn="l" marL="139700" indent="-139700">
              <a:spcAft>
                <a:spcPts val="400"/>
              </a:spcAft>
              <a:buChar char="•"/>
            </a:pPr>
            <a:r>
              <a:rPr sz="1000" b="0" i="0">
                <a:solidFill>
                  <a:srgbClr val="202124"/>
                </a:solidFill>
                <a:latin typeface="Google Sans Flex"/>
              </a:rPr>
              <a:t>Self-service: a shop registers, uploads its inventory and is live. 380 backend and 32 frontend tests; every control mapped in docs/security.md.</a:t>
            </a:r>
          </a:p>
        </p:txBody>
      </p:sp>
      <p:sp>
        <p:nvSpPr>
          <p:cNvPr id="83" name="TextBox 82"/>
          <p:cNvSpPr txBox="1"/>
          <p:nvPr/>
        </p:nvSpPr>
        <p:spPr>
          <a:xfrm>
            <a:off x="274320" y="4590288"/>
            <a:ext cx="8595360" cy="365760"/>
          </a:xfrm>
          <a:prstGeom prst="rect">
            <a:avLst/>
          </a:prstGeom>
          <a:noFill/>
        </p:spPr>
        <p:txBody>
          <a:bodyPr wrap="square" anchor="t" lIns="45720" rIns="45720" tIns="27432" bIns="27432">
            <a:spAutoFit/>
          </a:bodyPr>
          <a:lstStyle/>
          <a:p>
            <a:pPr algn="l">
              <a:spcAft>
                <a:spcPts val="400"/>
              </a:spcAft>
            </a:pPr>
            <a:r>
              <a:rPr sz="950" b="0" i="1">
                <a:solidFill>
                  <a:srgbClr val="5F6368"/>
                </a:solidFill>
                <a:latin typeface="Google Sans Flex"/>
              </a:rPr>
              <a:t>Judging criteria addressed here: innovation (25%) and problem alignment (25%); technical merit and GenAI use (40%) on the architecture and technology slides; UX (10%) on the screens.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274320" y="1188720"/>
            <a:ext cx="2743200" cy="329184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88A55"/>
                </a:solidFill>
                <a:latin typeface="Google Sans Flex"/>
              </a:rPr>
              <a:t>Shopper: the store visit</a:t>
            </a:r>
          </a:p>
          <a:p>
            <a:pPr algn="l" marL="132715" indent="-132715">
              <a:spcAft>
                <a:spcPts val="300"/>
              </a:spcAft>
              <a:buChar char="•"/>
            </a:pPr>
            <a:r>
              <a:rPr sz="950" b="0" i="0">
                <a:solidFill>
                  <a:srgbClr val="202124"/>
                </a:solidFill>
                <a:latin typeface="Google Sans Flex"/>
              </a:rPr>
              <a:t>Entrance QR, no app install; optional phone OTP sign-in for history, offers and points</a:t>
            </a:r>
          </a:p>
          <a:p>
            <a:pPr algn="l" marL="132715" indent="-132715">
              <a:spcAft>
                <a:spcPts val="300"/>
              </a:spcAft>
              <a:buChar char="•"/>
            </a:pPr>
            <a:r>
              <a:rPr sz="950" b="0" i="0">
                <a:solidFill>
                  <a:srgbClr val="202124"/>
                </a:solidFill>
                <a:latin typeface="Google Sans Flex"/>
              </a:rPr>
              <a:t>Voice assistant on Gemini Live: real-time speech to speech, interruptible, 25 languages; typed lines join the conversation</a:t>
            </a:r>
          </a:p>
          <a:p>
            <a:pPr algn="l" marL="132715" indent="-132715">
              <a:spcAft>
                <a:spcPts val="300"/>
              </a:spcAft>
              <a:buChar char="•"/>
            </a:pPr>
            <a:r>
              <a:rPr sz="950" b="0" i="0">
                <a:solidFill>
                  <a:srgbClr val="202124"/>
                </a:solidFill>
                <a:latin typeface="Google Sans Flex"/>
              </a:rPr>
              <a:t>Floor map with aisle, bay and side directions; aisle QRs update where you stand</a:t>
            </a:r>
          </a:p>
          <a:p>
            <a:pPr algn="l" marL="132715" indent="-132715">
              <a:spcAft>
                <a:spcPts val="300"/>
              </a:spcAft>
              <a:buChar char="•"/>
            </a:pPr>
            <a:r>
              <a:rPr sz="950" b="0" i="0">
                <a:solidFill>
                  <a:srgbClr val="202124"/>
                </a:solidFill>
                <a:latin typeface="Google Sans Flex"/>
              </a:rPr>
              <a:t>Scan to add; offers apply themselves; points at checkout; sandbox payment; receipt QR</a:t>
            </a:r>
          </a:p>
          <a:p>
            <a:pPr algn="l" marL="132715" indent="-132715">
              <a:spcAft>
                <a:spcPts val="300"/>
              </a:spcAft>
              <a:buChar char="•"/>
            </a:pPr>
            <a:r>
              <a:rPr sz="950" b="0" i="0">
                <a:solidFill>
                  <a:srgbClr val="202124"/>
                </a:solidFill>
                <a:latin typeface="Google Sans Flex"/>
              </a:rPr>
              <a:t>Exit kiosk: seven verification layers decide; Gemini vision only moves confidence</a:t>
            </a:r>
          </a:p>
        </p:txBody>
      </p:sp>
      <p:sp>
        <p:nvSpPr>
          <p:cNvPr id="89" name="Rounded Rectangle 88"/>
          <p:cNvSpPr/>
          <p:nvPr/>
        </p:nvSpPr>
        <p:spPr>
          <a:xfrm>
            <a:off x="3172968" y="1188720"/>
            <a:ext cx="2743200" cy="329184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A73E8"/>
                </a:solidFill>
                <a:latin typeface="Google Sans Flex"/>
              </a:rPr>
              <a:t>Shopper: the online shop</a:t>
            </a:r>
          </a:p>
          <a:p>
            <a:pPr algn="l" marL="132715" indent="-132715">
              <a:spcAft>
                <a:spcPts val="300"/>
              </a:spcAft>
              <a:buChar char="•"/>
            </a:pPr>
            <a:r>
              <a:rPr sz="950" b="0" i="0">
                <a:solidFill>
                  <a:srgbClr val="202124"/>
                </a:solidFill>
                <a:latin typeface="Google Sans Flex"/>
              </a:rPr>
              <a:t>Product-first home: categories, deals, trending from real orders, picks for signed-in shoppers</a:t>
            </a:r>
          </a:p>
          <a:p>
            <a:pPr algn="l" marL="132715" indent="-132715">
              <a:spcAft>
                <a:spcPts val="300"/>
              </a:spcAft>
              <a:buChar char="•"/>
            </a:pPr>
            <a:r>
              <a:rPr sz="950" b="0" i="0">
                <a:solidFill>
                  <a:srgbClr val="202124"/>
                </a:solidFill>
                <a:latin typeface="Google Sans Flex"/>
              </a:rPr>
              <a:t>Search by words, by section ("healthy food" lists that section) or by photo</a:t>
            </a:r>
          </a:p>
          <a:p>
            <a:pPr algn="l" marL="132715" indent="-132715">
              <a:spcAft>
                <a:spcPts val="300"/>
              </a:spcAft>
              <a:buChar char="•"/>
            </a:pPr>
            <a:r>
              <a:rPr sz="950" b="0" i="0">
                <a:solidFill>
                  <a:srgbClr val="202124"/>
                </a:solidFill>
                <a:latin typeface="Google Sans Flex"/>
              </a:rPr>
              <a:t>Product sheet: quantity stepper, label facts from public sources with citations, price comparison across providers</a:t>
            </a:r>
          </a:p>
          <a:p>
            <a:pPr algn="l" marL="132715" indent="-132715">
              <a:spcAft>
                <a:spcPts val="300"/>
              </a:spcAft>
              <a:buChar char="•"/>
            </a:pPr>
            <a:r>
              <a:rPr sz="950" b="0" i="0">
                <a:solidFill>
                  <a:srgbClr val="202124"/>
                </a:solidFill>
                <a:latin typeface="Google Sans Flex"/>
              </a:rPr>
              <a:t>Cart stepper; the same session, cart and checkout as the store visit</a:t>
            </a:r>
          </a:p>
          <a:p>
            <a:pPr algn="l" marL="132715" indent="-132715">
              <a:spcAft>
                <a:spcPts val="300"/>
              </a:spcAft>
              <a:buChar char="•"/>
            </a:pPr>
            <a:r>
              <a:rPr sz="950" b="0" i="0">
                <a:solidFill>
                  <a:srgbClr val="202124"/>
                </a:solidFill>
                <a:latin typeface="Google Sans Flex"/>
              </a:rPr>
              <a:t>Assistant tools over the live catalog: search, section listing, store overview, navigation, cart, offers, product facts, compare prices</a:t>
            </a:r>
          </a:p>
        </p:txBody>
      </p:sp>
      <p:sp>
        <p:nvSpPr>
          <p:cNvPr id="90" name="Rounded Rectangle 89"/>
          <p:cNvSpPr/>
          <p:nvPr/>
        </p:nvSpPr>
        <p:spPr>
          <a:xfrm>
            <a:off x="6071616" y="1188720"/>
            <a:ext cx="2743200" cy="329184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C26D00"/>
                </a:solidFill>
                <a:latin typeface="Google Sans Flex"/>
              </a:rPr>
              <a:t>Owner dashboard</a:t>
            </a:r>
          </a:p>
          <a:p>
            <a:pPr algn="l" marL="132715" indent="-132715">
              <a:spcAft>
                <a:spcPts val="300"/>
              </a:spcAft>
              <a:buChar char="•"/>
            </a:pPr>
            <a:r>
              <a:rPr sz="950" b="0" i="0">
                <a:solidFill>
                  <a:srgbClr val="202124"/>
                </a:solidFill>
                <a:latin typeface="Google Sans Flex"/>
              </a:rPr>
              <a:t>Today's sales; inventory with BigQuery ML ARIMA_PLUS forecasts and days of cover; product editor</a:t>
            </a:r>
          </a:p>
          <a:p>
            <a:pPr algn="l" marL="132715" indent="-132715">
              <a:spcAft>
                <a:spcPts val="300"/>
              </a:spcAft>
              <a:buChar char="•"/>
            </a:pPr>
            <a:r>
              <a:rPr sz="950" b="0" i="0">
                <a:solidFill>
                  <a:srgbClr val="202124"/>
                </a:solidFill>
                <a:latin typeface="Google Sans Flex"/>
              </a:rPr>
              <a:t>Reorder drafts grouped by supplier with a Gemini rationale; approve or reject</a:t>
            </a:r>
          </a:p>
          <a:p>
            <a:pPr algn="l" marL="132715" indent="-132715">
              <a:spcAft>
                <a:spcPts val="300"/>
              </a:spcAft>
              <a:buChar char="•"/>
            </a:pPr>
            <a:r>
              <a:rPr sz="950" b="0" i="0">
                <a:solidFill>
                  <a:srgbClr val="202124"/>
                </a:solidFill>
                <a:latin typeface="Google Sans Flex"/>
              </a:rPr>
              <a:t>Demand signals; customer segments (new, regular, VIP, at risk); offers; loss and shrink; exit checks; account settings</a:t>
            </a:r>
          </a:p>
          <a:p>
            <a:pPr algn="l" marL="132715" indent="-132715">
              <a:spcAft>
                <a:spcPts val="300"/>
              </a:spcAft>
              <a:buChar char="•"/>
            </a:pPr>
            <a:r>
              <a:rPr sz="950" b="0" i="0">
                <a:solidFill>
                  <a:srgbClr val="202124"/>
                </a:solidFill>
                <a:latin typeface="Google Sans Flex"/>
              </a:rPr>
              <a:t>Inventory intake: Excel template, Google Sheets copy, checked upload (no accidental overwrite), add by hand or by scan</a:t>
            </a:r>
          </a:p>
          <a:p>
            <a:pPr algn="l" marL="132715" indent="-132715">
              <a:spcAft>
                <a:spcPts val="300"/>
              </a:spcAft>
              <a:buChar char="•"/>
            </a:pPr>
            <a:r>
              <a:rPr sz="950" b="0" i="0">
                <a:solidFill>
                  <a:srgbClr val="202124"/>
                </a:solidFill>
                <a:latin typeface="Google Sans Flex"/>
              </a:rPr>
              <a:t>Integrations: connector agent for files, sheets, API feeds, databases and MCP servers (propose mapping, preview, confirm; credentials in Secret Manager); the catalog served as an MCP server</a:t>
            </a:r>
          </a:p>
        </p:txBody>
      </p:sp>
      <p:sp>
        <p:nvSpPr>
          <p:cNvPr id="91" name="TextBox 90"/>
          <p:cNvSpPr txBox="1"/>
          <p:nvPr/>
        </p:nvSpPr>
        <p:spPr>
          <a:xfrm>
            <a:off x="274320" y="4544568"/>
            <a:ext cx="8595360" cy="457200"/>
          </a:xfrm>
          <a:prstGeom prst="rect">
            <a:avLst/>
          </a:prstGeom>
          <a:noFill/>
        </p:spPr>
        <p:txBody>
          <a:bodyPr wrap="square" anchor="t" lIns="45720" rIns="45720" tIns="27432" bIns="27432">
            <a:spAutoFit/>
          </a:bodyPr>
          <a:lstStyle/>
          <a:p>
            <a:pPr algn="l">
              <a:spcAft>
                <a:spcPts val="400"/>
              </a:spcAft>
            </a:pPr>
            <a:r>
              <a:rPr sz="900" b="1" i="0">
                <a:solidFill>
                  <a:srgbClr val="5F6368"/>
                </a:solidFill>
                <a:latin typeface="Google Sans Flex"/>
              </a:rPr>
              <a:t>Taxonomy: </a:t>
            </a:r>
            <a:r>
              <a:rPr sz="900" b="0" i="0">
                <a:solidFill>
                  <a:srgbClr val="5F6368"/>
                </a:solidFill>
                <a:latin typeface="Google Sans Flex"/>
              </a:rPr>
              <a:t>product → category → subcategory → storage → department → floor block (Staples &amp; Cooking; Snacks, Beverages &amp; Sweets; Personal Care &amp; Baby; Household, Pooja &amp; Pets; Home, Kitchen &amp; Hardware; Stationery, Toys &amp; Sports; Fresh Produce; Clothing &amp; Footwear; Chiller; Freezer), applied by rules at every import, shown on the map and spoken in directions.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274320" y="1124712"/>
            <a:ext cx="8595360" cy="237744"/>
          </a:xfrm>
          <a:prstGeom prst="rect">
            <a:avLst/>
          </a:prstGeom>
          <a:noFill/>
        </p:spPr>
        <p:txBody>
          <a:bodyPr wrap="square" anchor="t" lIns="45720" rIns="45720" tIns="27432" bIns="27432">
            <a:spAutoFit/>
          </a:bodyPr>
          <a:lstStyle/>
          <a:p>
            <a:pPr algn="l">
              <a:spcAft>
                <a:spcPts val="0"/>
              </a:spcAft>
            </a:pPr>
            <a:r>
              <a:rPr sz="1050" b="1" i="0">
                <a:solidFill>
                  <a:srgbClr val="188A55"/>
                </a:solidFill>
                <a:latin typeface="Google Sans Flex"/>
              </a:rPr>
              <a:t>Shopper, store visit</a:t>
            </a:r>
          </a:p>
        </p:txBody>
      </p:sp>
      <p:sp>
        <p:nvSpPr>
          <p:cNvPr id="97" name="Rounded Rectangle 96"/>
          <p:cNvSpPr/>
          <p:nvPr/>
        </p:nvSpPr>
        <p:spPr>
          <a:xfrm>
            <a:off x="274320"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Scan the entrance QR</a:t>
            </a:r>
          </a:p>
        </p:txBody>
      </p:sp>
      <p:cxnSp>
        <p:nvCxnSpPr>
          <p:cNvPr id="98" name="Connector 97"/>
          <p:cNvCxnSpPr/>
          <p:nvPr/>
        </p:nvCxnSpPr>
        <p:spPr>
          <a:xfrm>
            <a:off x="1371600" y="1682496"/>
            <a:ext cx="155448"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9" name="Rounded Rectangle 98"/>
          <p:cNvSpPr/>
          <p:nvPr/>
        </p:nvSpPr>
        <p:spPr>
          <a:xfrm>
            <a:off x="1527048"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Ask by voice or text</a:t>
            </a:r>
          </a:p>
        </p:txBody>
      </p:sp>
      <p:cxnSp>
        <p:nvCxnSpPr>
          <p:cNvPr id="100" name="Connector 99"/>
          <p:cNvCxnSpPr/>
          <p:nvPr/>
        </p:nvCxnSpPr>
        <p:spPr>
          <a:xfrm>
            <a:off x="2624328" y="1682496"/>
            <a:ext cx="155448"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2779775"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Map and aisle directions</a:t>
            </a:r>
          </a:p>
        </p:txBody>
      </p:sp>
      <p:cxnSp>
        <p:nvCxnSpPr>
          <p:cNvPr id="102" name="Connector 101"/>
          <p:cNvCxnSpPr/>
          <p:nvPr/>
        </p:nvCxnSpPr>
        <p:spPr>
          <a:xfrm>
            <a:off x="3877055" y="1682496"/>
            <a:ext cx="155448"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3" name="Rounded Rectangle 102"/>
          <p:cNvSpPr/>
          <p:nvPr/>
        </p:nvSpPr>
        <p:spPr>
          <a:xfrm>
            <a:off x="4032503"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Scan to add</a:t>
            </a:r>
          </a:p>
        </p:txBody>
      </p:sp>
      <p:cxnSp>
        <p:nvCxnSpPr>
          <p:cNvPr id="104" name="Connector 103"/>
          <p:cNvCxnSpPr/>
          <p:nvPr/>
        </p:nvCxnSpPr>
        <p:spPr>
          <a:xfrm>
            <a:off x="5129783" y="1682496"/>
            <a:ext cx="155448"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5" name="Rounded Rectangle 104"/>
          <p:cNvSpPr/>
          <p:nvPr/>
        </p:nvSpPr>
        <p:spPr>
          <a:xfrm>
            <a:off x="5285231"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Offers and points apply</a:t>
            </a:r>
          </a:p>
        </p:txBody>
      </p:sp>
      <p:cxnSp>
        <p:nvCxnSpPr>
          <p:cNvPr id="106" name="Connector 105"/>
          <p:cNvCxnSpPr/>
          <p:nvPr/>
        </p:nvCxnSpPr>
        <p:spPr>
          <a:xfrm>
            <a:off x="6382512" y="1682496"/>
            <a:ext cx="155447"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6537959"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Pay, receipt QR</a:t>
            </a:r>
          </a:p>
        </p:txBody>
      </p:sp>
      <p:cxnSp>
        <p:nvCxnSpPr>
          <p:cNvPr id="108" name="Connector 107"/>
          <p:cNvCxnSpPr/>
          <p:nvPr/>
        </p:nvCxnSpPr>
        <p:spPr>
          <a:xfrm>
            <a:off x="7635240" y="1682496"/>
            <a:ext cx="155448"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9" name="Rounded Rectangle 108"/>
          <p:cNvSpPr/>
          <p:nvPr/>
        </p:nvSpPr>
        <p:spPr>
          <a:xfrm>
            <a:off x="7790688" y="1371600"/>
            <a:ext cx="1097280" cy="621792"/>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Exit kiosk: seven layers</a:t>
            </a:r>
          </a:p>
        </p:txBody>
      </p:sp>
      <p:sp>
        <p:nvSpPr>
          <p:cNvPr id="110" name="TextBox 109"/>
          <p:cNvSpPr txBox="1"/>
          <p:nvPr/>
        </p:nvSpPr>
        <p:spPr>
          <a:xfrm>
            <a:off x="274320" y="2084831"/>
            <a:ext cx="8595360" cy="237744"/>
          </a:xfrm>
          <a:prstGeom prst="rect">
            <a:avLst/>
          </a:prstGeom>
          <a:noFill/>
        </p:spPr>
        <p:txBody>
          <a:bodyPr wrap="square" anchor="t" lIns="45720" rIns="45720" tIns="27432" bIns="27432">
            <a:spAutoFit/>
          </a:bodyPr>
          <a:lstStyle/>
          <a:p>
            <a:pPr algn="l">
              <a:spcAft>
                <a:spcPts val="0"/>
              </a:spcAft>
            </a:pPr>
            <a:r>
              <a:rPr sz="1050" b="1" i="0">
                <a:solidFill>
                  <a:srgbClr val="1A73E8"/>
                </a:solidFill>
                <a:latin typeface="Google Sans Flex"/>
              </a:rPr>
              <a:t>Shopper, online shop (same session, cart and checkout)</a:t>
            </a:r>
          </a:p>
        </p:txBody>
      </p:sp>
      <p:sp>
        <p:nvSpPr>
          <p:cNvPr id="111" name="Rounded Rectangle 110"/>
          <p:cNvSpPr/>
          <p:nvPr/>
        </p:nvSpPr>
        <p:spPr>
          <a:xfrm>
            <a:off x="274320"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Shop online, pick the shop</a:t>
            </a:r>
          </a:p>
        </p:txBody>
      </p:sp>
      <p:cxnSp>
        <p:nvCxnSpPr>
          <p:cNvPr id="112" name="Connector 111"/>
          <p:cNvCxnSpPr/>
          <p:nvPr/>
        </p:nvCxnSpPr>
        <p:spPr>
          <a:xfrm>
            <a:off x="1577340" y="2642615"/>
            <a:ext cx="155448"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3" name="Rounded Rectangle 112"/>
          <p:cNvSpPr/>
          <p:nvPr/>
        </p:nvSpPr>
        <p:spPr>
          <a:xfrm>
            <a:off x="1732788"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Home: categories, deals, trending, picks</a:t>
            </a:r>
          </a:p>
        </p:txBody>
      </p:sp>
      <p:cxnSp>
        <p:nvCxnSpPr>
          <p:cNvPr id="114" name="Connector 113"/>
          <p:cNvCxnSpPr/>
          <p:nvPr/>
        </p:nvCxnSpPr>
        <p:spPr>
          <a:xfrm>
            <a:off x="3035808" y="2642615"/>
            <a:ext cx="155448"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Rounded Rectangle 114"/>
          <p:cNvSpPr/>
          <p:nvPr/>
        </p:nvSpPr>
        <p:spPr>
          <a:xfrm>
            <a:off x="3191256"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Search by words, section or photo</a:t>
            </a:r>
          </a:p>
        </p:txBody>
      </p:sp>
      <p:cxnSp>
        <p:nvCxnSpPr>
          <p:cNvPr id="116" name="Connector 115"/>
          <p:cNvCxnSpPr/>
          <p:nvPr/>
        </p:nvCxnSpPr>
        <p:spPr>
          <a:xfrm>
            <a:off x="4494276" y="2642615"/>
            <a:ext cx="155448"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4649724"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Product sheet: facts, compare prices</a:t>
            </a:r>
          </a:p>
        </p:txBody>
      </p:sp>
      <p:cxnSp>
        <p:nvCxnSpPr>
          <p:cNvPr id="118" name="Connector 117"/>
          <p:cNvCxnSpPr/>
          <p:nvPr/>
        </p:nvCxnSpPr>
        <p:spPr>
          <a:xfrm>
            <a:off x="5952744" y="2642615"/>
            <a:ext cx="155448"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6108192"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Cart stepper</a:t>
            </a:r>
          </a:p>
        </p:txBody>
      </p:sp>
      <p:cxnSp>
        <p:nvCxnSpPr>
          <p:cNvPr id="120" name="Connector 119"/>
          <p:cNvCxnSpPr/>
          <p:nvPr/>
        </p:nvCxnSpPr>
        <p:spPr>
          <a:xfrm>
            <a:off x="7411212" y="2642615"/>
            <a:ext cx="155448"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7566660" y="2331720"/>
            <a:ext cx="1303020" cy="621792"/>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Checkout</a:t>
            </a:r>
          </a:p>
        </p:txBody>
      </p:sp>
      <p:sp>
        <p:nvSpPr>
          <p:cNvPr id="122" name="TextBox 121"/>
          <p:cNvSpPr txBox="1"/>
          <p:nvPr/>
        </p:nvSpPr>
        <p:spPr>
          <a:xfrm>
            <a:off x="274320" y="3044952"/>
            <a:ext cx="8595360" cy="237744"/>
          </a:xfrm>
          <a:prstGeom prst="rect">
            <a:avLst/>
          </a:prstGeom>
          <a:noFill/>
        </p:spPr>
        <p:txBody>
          <a:bodyPr wrap="square" anchor="t" lIns="45720" rIns="45720" tIns="27432" bIns="27432">
            <a:spAutoFit/>
          </a:bodyPr>
          <a:lstStyle/>
          <a:p>
            <a:pPr algn="l">
              <a:spcAft>
                <a:spcPts val="0"/>
              </a:spcAft>
            </a:pPr>
            <a:r>
              <a:rPr sz="1050" b="1" i="0">
                <a:solidFill>
                  <a:srgbClr val="C26D00"/>
                </a:solidFill>
                <a:latin typeface="Google Sans Flex"/>
              </a:rPr>
              <a:t>Owner loop</a:t>
            </a:r>
          </a:p>
        </p:txBody>
      </p:sp>
      <p:sp>
        <p:nvSpPr>
          <p:cNvPr id="123" name="Rounded Rectangle 122"/>
          <p:cNvSpPr/>
          <p:nvPr/>
        </p:nvSpPr>
        <p:spPr>
          <a:xfrm>
            <a:off x="274320"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Inventory in: template, sheet, upload, scan, connectors</a:t>
            </a:r>
          </a:p>
        </p:txBody>
      </p:sp>
      <p:cxnSp>
        <p:nvCxnSpPr>
          <p:cNvPr id="124" name="Connector 123"/>
          <p:cNvCxnSpPr/>
          <p:nvPr/>
        </p:nvCxnSpPr>
        <p:spPr>
          <a:xfrm>
            <a:off x="1577340" y="3602736"/>
            <a:ext cx="155448" cy="0"/>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5" name="Rounded Rectangle 124"/>
          <p:cNvSpPr/>
          <p:nvPr/>
        </p:nvSpPr>
        <p:spPr>
          <a:xfrm>
            <a:off x="1732788"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Rules place every product (taxonomy)</a:t>
            </a:r>
          </a:p>
        </p:txBody>
      </p:sp>
      <p:cxnSp>
        <p:nvCxnSpPr>
          <p:cNvPr id="126" name="Connector 125"/>
          <p:cNvCxnSpPr/>
          <p:nvPr/>
        </p:nvCxnSpPr>
        <p:spPr>
          <a:xfrm>
            <a:off x="3035808" y="3602736"/>
            <a:ext cx="155448" cy="0"/>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Rounded Rectangle 126"/>
          <p:cNvSpPr/>
          <p:nvPr/>
        </p:nvSpPr>
        <p:spPr>
          <a:xfrm>
            <a:off x="3191256"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Sales recorded, BigQuery nightly</a:t>
            </a:r>
          </a:p>
        </p:txBody>
      </p:sp>
      <p:cxnSp>
        <p:nvCxnSpPr>
          <p:cNvPr id="128" name="Connector 127"/>
          <p:cNvCxnSpPr/>
          <p:nvPr/>
        </p:nvCxnSpPr>
        <p:spPr>
          <a:xfrm>
            <a:off x="4494276" y="3602736"/>
            <a:ext cx="155448" cy="0"/>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9" name="Rounded Rectangle 128"/>
          <p:cNvSpPr/>
          <p:nvPr/>
        </p:nvSpPr>
        <p:spPr>
          <a:xfrm>
            <a:off x="4649724"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ARIMA_PLUS forecast, days of cover</a:t>
            </a:r>
          </a:p>
        </p:txBody>
      </p:sp>
      <p:cxnSp>
        <p:nvCxnSpPr>
          <p:cNvPr id="130" name="Connector 129"/>
          <p:cNvCxnSpPr/>
          <p:nvPr/>
        </p:nvCxnSpPr>
        <p:spPr>
          <a:xfrm>
            <a:off x="5952744" y="3602736"/>
            <a:ext cx="155448" cy="0"/>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1" name="Rounded Rectangle 130"/>
          <p:cNvSpPr/>
          <p:nvPr/>
        </p:nvSpPr>
        <p:spPr>
          <a:xfrm>
            <a:off x="6108192"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Reorder drafts by supplier with rationale</a:t>
            </a:r>
          </a:p>
        </p:txBody>
      </p:sp>
      <p:cxnSp>
        <p:nvCxnSpPr>
          <p:cNvPr id="132" name="Connector 131"/>
          <p:cNvCxnSpPr/>
          <p:nvPr/>
        </p:nvCxnSpPr>
        <p:spPr>
          <a:xfrm>
            <a:off x="7411212" y="3602736"/>
            <a:ext cx="155448" cy="0"/>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3" name="Rounded Rectangle 132"/>
          <p:cNvSpPr/>
          <p:nvPr/>
        </p:nvSpPr>
        <p:spPr>
          <a:xfrm>
            <a:off x="7566660" y="3291840"/>
            <a:ext cx="1303020" cy="62179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300"/>
              </a:spcAft>
            </a:pPr>
            <a:r>
              <a:rPr sz="900" b="1" i="0">
                <a:solidFill>
                  <a:srgbClr val="202124"/>
                </a:solidFill>
                <a:latin typeface="Google Sans Flex"/>
              </a:rPr>
              <a:t>Owner approves; signals and segments feed offers</a:t>
            </a:r>
          </a:p>
        </p:txBody>
      </p:sp>
      <p:sp>
        <p:nvSpPr>
          <p:cNvPr id="134" name="Rounded Rectangle 133"/>
          <p:cNvSpPr/>
          <p:nvPr/>
        </p:nvSpPr>
        <p:spPr>
          <a:xfrm>
            <a:off x="274320" y="4114800"/>
            <a:ext cx="4206240" cy="868680"/>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00" b="1" i="0">
                <a:solidFill>
                  <a:srgbClr val="202124"/>
                </a:solidFill>
                <a:latin typeface="Google Sans Flex"/>
              </a:rPr>
              <a:t>How a turn is answered</a:t>
            </a:r>
          </a:p>
          <a:p>
            <a:pPr algn="l">
              <a:spcAft>
                <a:spcPts val="200"/>
              </a:spcAft>
            </a:pPr>
            <a:r>
              <a:rPr sz="850" b="0" i="0">
                <a:solidFill>
                  <a:srgbClr val="202124"/>
                </a:solidFill>
                <a:latin typeface="Google Sans Flex"/>
              </a:rPr>
              <a:t>A coordinator with no tools routes each turn to a specialist (catalog, navigation, cart; for owners: briefing with two scouts in parallel and a writer, inventory planner, customers and offers, data connector, store ops). Specialists act only through tools over the live catalog; the screen renders tool results.</a:t>
            </a:r>
          </a:p>
        </p:txBody>
      </p:sp>
      <p:sp>
        <p:nvSpPr>
          <p:cNvPr id="135" name="Rounded Rectangle 134"/>
          <p:cNvSpPr/>
          <p:nvPr/>
        </p:nvSpPr>
        <p:spPr>
          <a:xfrm>
            <a:off x="4663440" y="4114800"/>
            <a:ext cx="4206240" cy="868680"/>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00" b="1" i="0">
                <a:solidFill>
                  <a:srgbClr val="202124"/>
                </a:solidFill>
                <a:latin typeface="Google Sans Flex"/>
              </a:rPr>
              <a:t>Rules decide at the exit</a:t>
            </a:r>
          </a:p>
          <a:p>
            <a:pPr algn="l">
              <a:spcAft>
                <a:spcPts val="200"/>
              </a:spcAft>
            </a:pPr>
            <a:r>
              <a:rPr sz="850" b="0" i="0">
                <a:solidFill>
                  <a:srgbClr val="202124"/>
                </a:solidFill>
                <a:latin typeface="Google Sans Flex"/>
              </a:rPr>
              <a:t>Receipt token, paid order, item count, line limit, high-value items, random audit, then a Gemini bag photo that only moves confidence and never blocks an exit. Staff review flags with a kiosk PIN; photos are never stored.</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TextBox 103"/>
          <p:cNvSpPr txBox="1"/>
          <p:nvPr/>
        </p:nvSpPr>
        <p:spPr>
          <a:xfrm>
            <a:off x="274320" y="1097280"/>
            <a:ext cx="8595360" cy="274320"/>
          </a:xfrm>
          <a:prstGeom prst="rect">
            <a:avLst/>
          </a:prstGeom>
          <a:noFill/>
        </p:spPr>
        <p:txBody>
          <a:bodyPr wrap="square" anchor="t" lIns="45720" rIns="45720" tIns="27432" bIns="27432">
            <a:spAutoFit/>
          </a:bodyPr>
          <a:lstStyle/>
          <a:p>
            <a:pPr algn="l">
              <a:spcAft>
                <a:spcPts val="0"/>
              </a:spcAft>
            </a:pPr>
            <a:r>
              <a:rPr sz="1000" b="0" i="0">
                <a:solidFill>
                  <a:srgbClr val="5F6368"/>
                </a:solidFill>
                <a:latin typeface="Google Sans Flex"/>
              </a:rPr>
              <a:t>Live screens of the deployed app on a phone, captured 18 Oct 2026 (no mock-ups).</a:t>
            </a:r>
          </a:p>
        </p:txBody>
      </p:sp>
      <p:pic>
        <p:nvPicPr>
          <p:cNvPr id="105" name="Picture 104" descr="phone-landing.png"/>
          <p:cNvPicPr>
            <a:picLocks noChangeAspect="1"/>
          </p:cNvPicPr>
          <p:nvPr/>
        </p:nvPicPr>
        <p:blipFill>
          <a:blip r:embed="rId5"/>
          <a:stretch>
            <a:fillRect/>
          </a:stretch>
        </p:blipFill>
        <p:spPr>
          <a:xfrm>
            <a:off x="274320" y="1417320"/>
            <a:ext cx="1796796" cy="3017520"/>
          </a:xfrm>
          <a:prstGeom prst="rect">
            <a:avLst/>
          </a:prstGeom>
          <a:ln w="6350">
            <a:solidFill>
              <a:srgbClr val="DADCE0"/>
            </a:solidFill>
          </a:ln>
        </p:spPr>
      </p:pic>
      <p:sp>
        <p:nvSpPr>
          <p:cNvPr id="106" name="TextBox 105"/>
          <p:cNvSpPr txBox="1"/>
          <p:nvPr/>
        </p:nvSpPr>
        <p:spPr>
          <a:xfrm>
            <a:off x="182879" y="4462272"/>
            <a:ext cx="2174748" cy="502920"/>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Landing: two front doors, the store visit and the online shop</a:t>
            </a:r>
          </a:p>
        </p:txBody>
      </p:sp>
      <p:pic>
        <p:nvPicPr>
          <p:cNvPr id="107" name="Picture 106" descr="phone-trending.png"/>
          <p:cNvPicPr>
            <a:picLocks noChangeAspect="1"/>
          </p:cNvPicPr>
          <p:nvPr/>
        </p:nvPicPr>
        <p:blipFill>
          <a:blip r:embed="rId6"/>
          <a:stretch>
            <a:fillRect/>
          </a:stretch>
        </p:blipFill>
        <p:spPr>
          <a:xfrm>
            <a:off x="2540508" y="1417320"/>
            <a:ext cx="1796796" cy="3017520"/>
          </a:xfrm>
          <a:prstGeom prst="rect">
            <a:avLst/>
          </a:prstGeom>
          <a:ln w="6350">
            <a:solidFill>
              <a:srgbClr val="DADCE0"/>
            </a:solidFill>
          </a:ln>
        </p:spPr>
      </p:pic>
      <p:sp>
        <p:nvSpPr>
          <p:cNvPr id="108" name="TextBox 107"/>
          <p:cNvSpPr txBox="1"/>
          <p:nvPr/>
        </p:nvSpPr>
        <p:spPr>
          <a:xfrm>
            <a:off x="2449068" y="4462272"/>
            <a:ext cx="2174748" cy="502920"/>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Online shop: categories, deals, trending from real orders</a:t>
            </a:r>
          </a:p>
        </p:txBody>
      </p:sp>
      <p:pic>
        <p:nvPicPr>
          <p:cNvPr id="109" name="Picture 108" descr="phone-product-facts.png"/>
          <p:cNvPicPr>
            <a:picLocks noChangeAspect="1"/>
          </p:cNvPicPr>
          <p:nvPr/>
        </p:nvPicPr>
        <p:blipFill>
          <a:blip r:embed="rId7"/>
          <a:stretch>
            <a:fillRect/>
          </a:stretch>
        </p:blipFill>
        <p:spPr>
          <a:xfrm>
            <a:off x="4806696" y="1417320"/>
            <a:ext cx="1796796" cy="3017520"/>
          </a:xfrm>
          <a:prstGeom prst="rect">
            <a:avLst/>
          </a:prstGeom>
          <a:ln w="6350">
            <a:solidFill>
              <a:srgbClr val="DADCE0"/>
            </a:solidFill>
          </a:ln>
        </p:spPr>
      </p:pic>
      <p:sp>
        <p:nvSpPr>
          <p:cNvPr id="110" name="TextBox 109"/>
          <p:cNvSpPr txBox="1"/>
          <p:nvPr/>
        </p:nvSpPr>
        <p:spPr>
          <a:xfrm>
            <a:off x="4715256" y="4462272"/>
            <a:ext cx="2174748" cy="502920"/>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Product sheet: price comparison across providers, label facts with citations</a:t>
            </a:r>
          </a:p>
        </p:txBody>
      </p:sp>
      <p:pic>
        <p:nvPicPr>
          <p:cNvPr id="111" name="Picture 110" descr="store-where.png"/>
          <p:cNvPicPr>
            <a:picLocks noChangeAspect="1"/>
          </p:cNvPicPr>
          <p:nvPr/>
        </p:nvPicPr>
        <p:blipFill>
          <a:blip r:embed="rId8"/>
          <a:stretch>
            <a:fillRect/>
          </a:stretch>
        </p:blipFill>
        <p:spPr>
          <a:xfrm>
            <a:off x="7072884" y="1417320"/>
            <a:ext cx="1796796" cy="3017520"/>
          </a:xfrm>
          <a:prstGeom prst="rect">
            <a:avLst/>
          </a:prstGeom>
          <a:ln w="6350">
            <a:solidFill>
              <a:srgbClr val="DADCE0"/>
            </a:solidFill>
          </a:ln>
        </p:spPr>
      </p:pic>
      <p:sp>
        <p:nvSpPr>
          <p:cNvPr id="112" name="TextBox 111"/>
          <p:cNvSpPr txBox="1"/>
          <p:nvPr/>
        </p:nvSpPr>
        <p:spPr>
          <a:xfrm>
            <a:off x="6981444" y="4462272"/>
            <a:ext cx="2174748" cy="502920"/>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Store visit: assistant answers from the catalog and lights the aisle on the map</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274320" y="1188720"/>
            <a:ext cx="8595360" cy="658368"/>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00" b="1" i="0">
                <a:solidFill>
                  <a:srgbClr val="202124"/>
                </a:solidFill>
                <a:latin typeface="Google Sans Flex"/>
              </a:rPr>
              <a:t>Clients</a:t>
            </a:r>
          </a:p>
          <a:p>
            <a:pPr algn="l">
              <a:spcAft>
                <a:spcPts val="200"/>
              </a:spcAft>
            </a:pPr>
            <a:r>
              <a:rPr sz="950" b="0" i="0">
                <a:solidFill>
                  <a:srgbClr val="202124"/>
                </a:solidFill>
                <a:latin typeface="Google Sans Flex"/>
              </a:rPr>
              <a:t>Shopper PWA on the phone (store visit and online shop)  ·  Owner dashboard on laptop or phone  ·  Exit kiosk on a tablet  ·  Other agents over MCP. Static Next.js PWA on Firebase Hosting; Firebase Auth: Google and email for owners, phone OTP for shoppers who opt in.</a:t>
            </a:r>
          </a:p>
        </p:txBody>
      </p:sp>
      <p:cxnSp>
        <p:nvCxnSpPr>
          <p:cNvPr id="113" name="Connector 112"/>
          <p:cNvCxnSpPr/>
          <p:nvPr/>
        </p:nvCxnSpPr>
        <p:spPr>
          <a:xfrm>
            <a:off x="4572000" y="1847088"/>
            <a:ext cx="0" cy="164592"/>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Rounded Rectangle 113"/>
          <p:cNvSpPr/>
          <p:nvPr/>
        </p:nvSpPr>
        <p:spPr>
          <a:xfrm>
            <a:off x="274320" y="2011680"/>
            <a:ext cx="5394960" cy="1463040"/>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00" b="1" i="0">
                <a:solidFill>
                  <a:srgbClr val="1A73E8"/>
                </a:solidFill>
                <a:latin typeface="Google Sans Flex"/>
              </a:rPr>
              <a:t>Cloud Run: FastAPI (Python 3.12) with Google ADK 2.12 agent teams</a:t>
            </a:r>
          </a:p>
          <a:p>
            <a:pPr algn="l" marL="118745" indent="-118745">
              <a:spcAft>
                <a:spcPts val="200"/>
              </a:spcAft>
              <a:buChar char="•"/>
            </a:pPr>
            <a:r>
              <a:rPr sz="850" b="0" i="0">
                <a:solidFill>
                  <a:srgbClr val="202124"/>
                </a:solidFill>
                <a:latin typeface="Google Sans Flex"/>
              </a:rPr>
              <a:t>Shopper coordinator → catalog, navigation, cart specialists; owner coordinator → briefing (two scouts in parallel, one writer), inventory planner, customers and offers, data connector, store ops</a:t>
            </a:r>
          </a:p>
          <a:p>
            <a:pPr algn="l" marL="118745" indent="-118745">
              <a:spcAft>
                <a:spcPts val="200"/>
              </a:spcAft>
              <a:buChar char="•"/>
            </a:pPr>
            <a:r>
              <a:rPr sz="850" b="0" i="0">
                <a:solidFill>
                  <a:srgbClr val="202124"/>
                </a:solidFill>
                <a:latin typeface="Google Sans Flex"/>
              </a:rPr>
              <a:t>Gemini Live websocket bridge: speech to speech, echo guard, typed lines in the same session, transcripts in the spoken script</a:t>
            </a:r>
          </a:p>
          <a:p>
            <a:pPr algn="l" marL="118745" indent="-118745">
              <a:spcAft>
                <a:spcPts val="200"/>
              </a:spcAft>
              <a:buChar char="•"/>
            </a:pPr>
            <a:r>
              <a:rPr sz="850" b="0" i="0">
                <a:solidFill>
                  <a:srgbClr val="202124"/>
                </a:solidFill>
                <a:latin typeface="Google Sans Flex"/>
              </a:rPr>
              <a:t>Connector agent and normalizer (files, Sheets, API feeds, databases, MCP); MCP servers for every store's catalog and for the demo provider</a:t>
            </a:r>
          </a:p>
          <a:p>
            <a:pPr algn="l" marL="118745" indent="-118745">
              <a:spcAft>
                <a:spcPts val="200"/>
              </a:spcAft>
              <a:buChar char="•"/>
            </a:pPr>
            <a:r>
              <a:rPr sz="850" b="0" i="0">
                <a:solidFill>
                  <a:srgbClr val="202124"/>
                </a:solidFill>
                <a:latin typeface="Google Sans Flex"/>
              </a:rPr>
              <a:t>Taxonomy rules at every import; signed sync (HMAC, replay-safe); rate limits; audit on every change</a:t>
            </a:r>
          </a:p>
        </p:txBody>
      </p:sp>
      <p:sp>
        <p:nvSpPr>
          <p:cNvPr id="115" name="Rounded Rectangle 114"/>
          <p:cNvSpPr/>
          <p:nvPr/>
        </p:nvSpPr>
        <p:spPr>
          <a:xfrm>
            <a:off x="5852160" y="2011680"/>
            <a:ext cx="3017520" cy="1463040"/>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00" b="1" i="0">
                <a:solidFill>
                  <a:srgbClr val="188A55"/>
                </a:solidFill>
                <a:latin typeface="Google Sans Flex"/>
              </a:rPr>
              <a:t>Vertex AI · Gemini</a:t>
            </a:r>
          </a:p>
          <a:p>
            <a:pPr algn="l" marL="118745" indent="-118745">
              <a:spcAft>
                <a:spcPts val="200"/>
              </a:spcAft>
              <a:buChar char="•"/>
            </a:pPr>
            <a:r>
              <a:rPr sz="850" b="0" i="0">
                <a:solidFill>
                  <a:srgbClr val="202124"/>
                </a:solidFill>
                <a:latin typeface="Google Sans Flex"/>
              </a:rPr>
              <a:t>Gemini 3.5 Flash: tools, vision, mapping, rationale</a:t>
            </a:r>
          </a:p>
          <a:p>
            <a:pPr algn="l" marL="118745" indent="-118745">
              <a:spcAft>
                <a:spcPts val="200"/>
              </a:spcAft>
              <a:buChar char="•"/>
            </a:pPr>
            <a:r>
              <a:rPr sz="850" b="0" i="0">
                <a:solidFill>
                  <a:srgbClr val="202124"/>
                </a:solidFill>
                <a:latin typeface="Google Sans Flex"/>
              </a:rPr>
              <a:t>Gemini 3.1 Pro: heavier reasoning</a:t>
            </a:r>
          </a:p>
          <a:p>
            <a:pPr algn="l" marL="118745" indent="-118745">
              <a:spcAft>
                <a:spcPts val="200"/>
              </a:spcAft>
              <a:buChar char="•"/>
            </a:pPr>
            <a:r>
              <a:rPr sz="850" b="0" i="0">
                <a:solidFill>
                  <a:srgbClr val="202124"/>
                </a:solidFill>
                <a:latin typeface="Google Sans Flex"/>
              </a:rPr>
              <a:t>Gemini Live 2.5 Flash: speech to speech</a:t>
            </a:r>
          </a:p>
          <a:p>
            <a:pPr algn="l" marL="118745" indent="-118745">
              <a:spcAft>
                <a:spcPts val="200"/>
              </a:spcAft>
              <a:buChar char="•"/>
            </a:pPr>
            <a:r>
              <a:rPr sz="850" b="0" i="0">
                <a:solidFill>
                  <a:srgbClr val="202124"/>
                </a:solidFill>
                <a:latin typeface="Google Sans Flex"/>
              </a:rPr>
              <a:t>gemini-embedding-001: multilingual search</a:t>
            </a:r>
          </a:p>
          <a:p>
            <a:pPr algn="l" marL="118745" indent="-118745">
              <a:spcAft>
                <a:spcPts val="200"/>
              </a:spcAft>
              <a:buChar char="•"/>
            </a:pPr>
            <a:r>
              <a:rPr sz="850" b="0" i="0">
                <a:solidFill>
                  <a:srgbClr val="202124"/>
                </a:solidFill>
                <a:latin typeface="Google Sans Flex"/>
              </a:rPr>
              <a:t>Google Search grounding: product facts with citations</a:t>
            </a:r>
          </a:p>
        </p:txBody>
      </p:sp>
      <p:cxnSp>
        <p:nvCxnSpPr>
          <p:cNvPr id="116" name="Connector 115"/>
          <p:cNvCxnSpPr/>
          <p:nvPr/>
        </p:nvCxnSpPr>
        <p:spPr>
          <a:xfrm>
            <a:off x="5669280" y="2606040"/>
            <a:ext cx="182880" cy="0"/>
          </a:xfrm>
          <a:prstGeom prst="line">
            <a:avLst/>
          </a:prstGeom>
          <a:ln w="15875">
            <a:solidFill>
              <a:srgbClr val="1A73E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5669280" y="2834640"/>
            <a:ext cx="182880" cy="0"/>
          </a:xfrm>
          <a:prstGeom prst="line">
            <a:avLst/>
          </a:prstGeom>
          <a:ln w="15875">
            <a:solidFill>
              <a:srgbClr val="188A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971800" y="3474720"/>
            <a:ext cx="0" cy="137160"/>
          </a:xfrm>
          <a:prstGeom prst="line">
            <a:avLst/>
          </a:prstGeom>
          <a:ln w="15875">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9" name="Rounded Rectangle 118"/>
          <p:cNvSpPr/>
          <p:nvPr/>
        </p:nvSpPr>
        <p:spPr>
          <a:xfrm>
            <a:off x="274320" y="3611880"/>
            <a:ext cx="2093976" cy="749808"/>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50" b="1" i="0">
                <a:solidFill>
                  <a:srgbClr val="202124"/>
                </a:solidFill>
                <a:latin typeface="Google Sans Flex"/>
              </a:rPr>
              <a:t>Firestore</a:t>
            </a:r>
          </a:p>
          <a:p>
            <a:pPr algn="l">
              <a:spcAft>
                <a:spcPts val="200"/>
              </a:spcAft>
            </a:pPr>
            <a:r>
              <a:rPr sz="850" b="0" i="0">
                <a:solidFill>
                  <a:srgbClr val="202124"/>
                </a:solidFill>
                <a:latin typeface="Google Sans Flex"/>
              </a:rPr>
              <a:t>Inventory truth, orders, customers, points ledger, memory, audit; deny-all client rules</a:t>
            </a:r>
          </a:p>
        </p:txBody>
      </p:sp>
      <p:sp>
        <p:nvSpPr>
          <p:cNvPr id="120" name="Rounded Rectangle 119"/>
          <p:cNvSpPr/>
          <p:nvPr/>
        </p:nvSpPr>
        <p:spPr>
          <a:xfrm>
            <a:off x="2441448" y="3611880"/>
            <a:ext cx="2093976" cy="749808"/>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50" b="1" i="0">
                <a:solidFill>
                  <a:srgbClr val="202124"/>
                </a:solidFill>
                <a:latin typeface="Google Sans Flex"/>
              </a:rPr>
              <a:t>BigQuery ML</a:t>
            </a:r>
          </a:p>
          <a:p>
            <a:pPr algn="l">
              <a:spcAft>
                <a:spcPts val="200"/>
              </a:spcAft>
            </a:pPr>
            <a:r>
              <a:rPr sz="850" b="0" i="0">
                <a:solidFill>
                  <a:srgbClr val="202124"/>
                </a:solidFill>
                <a:latin typeface="Google Sans Flex"/>
              </a:rPr>
              <a:t>Sales history; ARIMA_PLUS forecasts per product and store, nightly</a:t>
            </a:r>
          </a:p>
        </p:txBody>
      </p:sp>
      <p:sp>
        <p:nvSpPr>
          <p:cNvPr id="121" name="Rounded Rectangle 120"/>
          <p:cNvSpPr/>
          <p:nvPr/>
        </p:nvSpPr>
        <p:spPr>
          <a:xfrm>
            <a:off x="4608576" y="3611880"/>
            <a:ext cx="2093976" cy="749808"/>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50" b="1" i="0">
                <a:solidFill>
                  <a:srgbClr val="202124"/>
                </a:solidFill>
                <a:latin typeface="Google Sans Flex"/>
              </a:rPr>
              <a:t>Cloud Scheduler</a:t>
            </a:r>
          </a:p>
          <a:p>
            <a:pPr algn="l">
              <a:spcAft>
                <a:spcPts val="200"/>
              </a:spcAft>
            </a:pPr>
            <a:r>
              <a:rPr sz="850" b="0" i="0">
                <a:solidFill>
                  <a:srgbClr val="202124"/>
                </a:solidFill>
                <a:latin typeface="Google Sans Flex"/>
              </a:rPr>
              <a:t>Forecast nightly, customers nightly, sync and connectors every 15 min</a:t>
            </a:r>
          </a:p>
        </p:txBody>
      </p:sp>
      <p:sp>
        <p:nvSpPr>
          <p:cNvPr id="122" name="Rounded Rectangle 121"/>
          <p:cNvSpPr/>
          <p:nvPr/>
        </p:nvSpPr>
        <p:spPr>
          <a:xfrm>
            <a:off x="6775704" y="3611880"/>
            <a:ext cx="2093976" cy="749808"/>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50" b="1" i="0">
                <a:solidFill>
                  <a:srgbClr val="202124"/>
                </a:solidFill>
                <a:latin typeface="Google Sans Flex"/>
              </a:rPr>
              <a:t>Secret Manager · Cloud TTS</a:t>
            </a:r>
          </a:p>
          <a:p>
            <a:pPr algn="l">
              <a:spcAft>
                <a:spcPts val="200"/>
              </a:spcAft>
            </a:pPr>
            <a:r>
              <a:rPr sz="850" b="0" i="0">
                <a:solidFill>
                  <a:srgbClr val="202124"/>
                </a:solidFill>
                <a:latin typeface="Google Sans Flex"/>
              </a:rPr>
              <a:t>Signing keys, connector credentials, MCP tokens; Text-to-Speech for the demo narration</a:t>
            </a:r>
          </a:p>
        </p:txBody>
      </p:sp>
      <p:cxnSp>
        <p:nvCxnSpPr>
          <p:cNvPr id="123" name="Connector 122"/>
          <p:cNvCxnSpPr/>
          <p:nvPr/>
        </p:nvCxnSpPr>
        <p:spPr>
          <a:xfrm>
            <a:off x="4572000" y="4361688"/>
            <a:ext cx="0" cy="100584"/>
          </a:xfrm>
          <a:prstGeom prst="line">
            <a:avLst/>
          </a:prstGeom>
          <a:ln w="15875">
            <a:solidFill>
              <a:srgbClr val="C26D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274320" y="4462272"/>
            <a:ext cx="8595360" cy="530352"/>
          </a:xfrm>
          <a:prstGeom prst="roundRect">
            <a:avLst>
              <a:gd name="adj" fmla="val 8000"/>
            </a:avLst>
          </a:prstGeom>
          <a:solidFill>
            <a:srgbClr val="FEF3E2"/>
          </a:solidFill>
          <a:ln w="9525">
            <a:solidFill>
              <a:srgbClr val="C26D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050" b="1" i="0">
                <a:solidFill>
                  <a:srgbClr val="C26D00"/>
                </a:solidFill>
                <a:latin typeface="Google Sans Flex"/>
              </a:rPr>
              <a:t>Outside the platform</a:t>
            </a:r>
          </a:p>
          <a:p>
            <a:pPr algn="l">
              <a:spcAft>
                <a:spcPts val="200"/>
              </a:spcAft>
            </a:pPr>
            <a:r>
              <a:rPr sz="850" b="0" i="0">
                <a:solidFill>
                  <a:srgbClr val="202124"/>
                </a:solidFill>
                <a:latin typeface="Google Sans Flex"/>
              </a:rPr>
              <a:t>Billing software exports (Excel, CSV, JSON, PDF), Google Sheets, API feeds, Postgres/MySQL and MCP providers through the connector agent  ·  Open Food Facts for barcodes  ·  Razorpay (sandbox) for payment  ·  GitHub Actions CI with the Firestore emulator, Cloud Build source deploys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274320" y="1234440"/>
            <a:ext cx="2743200" cy="288036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88A55"/>
                </a:solidFill>
                <a:latin typeface="Google Sans Flex"/>
              </a:rPr>
              <a:t>Google Cloud and AI</a:t>
            </a:r>
          </a:p>
          <a:p>
            <a:pPr algn="l" marL="132715" indent="-132715">
              <a:spcAft>
                <a:spcPts val="300"/>
              </a:spcAft>
              <a:buChar char="•"/>
            </a:pPr>
            <a:r>
              <a:rPr sz="950" b="0" i="0">
                <a:solidFill>
                  <a:srgbClr val="202124"/>
                </a:solidFill>
                <a:latin typeface="Google Sans Flex"/>
              </a:rPr>
              <a:t>Vertex AI Gemini 3.5 Flash (tools, vision, grounding, rationale) and Gemini 3.1 Pro</a:t>
            </a:r>
          </a:p>
          <a:p>
            <a:pPr algn="l" marL="132715" indent="-132715">
              <a:spcAft>
                <a:spcPts val="300"/>
              </a:spcAft>
              <a:buChar char="•"/>
            </a:pPr>
            <a:r>
              <a:rPr sz="950" b="0" i="0">
                <a:solidFill>
                  <a:srgbClr val="202124"/>
                </a:solidFill>
                <a:latin typeface="Google Sans Flex"/>
              </a:rPr>
              <a:t>Gemini Live 2.5 Flash (speech to speech)</a:t>
            </a:r>
          </a:p>
          <a:p>
            <a:pPr algn="l" marL="132715" indent="-132715">
              <a:spcAft>
                <a:spcPts val="300"/>
              </a:spcAft>
              <a:buChar char="•"/>
            </a:pPr>
            <a:r>
              <a:rPr sz="950" b="0" i="0">
                <a:solidFill>
                  <a:srgbClr val="202124"/>
                </a:solidFill>
                <a:latin typeface="Google Sans Flex"/>
              </a:rPr>
              <a:t>gemini-embedding-001 (search); Google Search grounding (product facts)</a:t>
            </a:r>
          </a:p>
          <a:p>
            <a:pPr algn="l" marL="132715" indent="-132715">
              <a:spcAft>
                <a:spcPts val="300"/>
              </a:spcAft>
              <a:buChar char="•"/>
            </a:pPr>
            <a:r>
              <a:rPr sz="950" b="0" i="0">
                <a:solidFill>
                  <a:srgbClr val="202124"/>
                </a:solidFill>
                <a:latin typeface="Google Sans Flex"/>
              </a:rPr>
              <a:t>Google ADK 2.12: coordinator, specialist, parallel and sequential agents</a:t>
            </a:r>
          </a:p>
          <a:p>
            <a:pPr algn="l" marL="132715" indent="-132715">
              <a:spcAft>
                <a:spcPts val="300"/>
              </a:spcAft>
              <a:buChar char="•"/>
            </a:pPr>
            <a:r>
              <a:rPr sz="950" b="0" i="0">
                <a:solidFill>
                  <a:srgbClr val="202124"/>
                </a:solidFill>
                <a:latin typeface="Google Sans Flex"/>
              </a:rPr>
              <a:t>Cloud Run, Cloud Build, Cloud Scheduler</a:t>
            </a:r>
          </a:p>
          <a:p>
            <a:pPr algn="l" marL="132715" indent="-132715">
              <a:spcAft>
                <a:spcPts val="300"/>
              </a:spcAft>
              <a:buChar char="•"/>
            </a:pPr>
            <a:r>
              <a:rPr sz="950" b="0" i="0">
                <a:solidFill>
                  <a:srgbClr val="202124"/>
                </a:solidFill>
                <a:latin typeface="Google Sans Flex"/>
              </a:rPr>
              <a:t>Firestore; BigQuery ML (ARIMA_PLUS)</a:t>
            </a:r>
          </a:p>
          <a:p>
            <a:pPr algn="l" marL="132715" indent="-132715">
              <a:spcAft>
                <a:spcPts val="300"/>
              </a:spcAft>
              <a:buChar char="•"/>
            </a:pPr>
            <a:r>
              <a:rPr sz="950" b="0" i="0">
                <a:solidFill>
                  <a:srgbClr val="202124"/>
                </a:solidFill>
                <a:latin typeface="Google Sans Flex"/>
              </a:rPr>
              <a:t>Secret Manager; Cloud Text-to-Speech (demo narration)</a:t>
            </a:r>
          </a:p>
        </p:txBody>
      </p:sp>
      <p:sp>
        <p:nvSpPr>
          <p:cNvPr id="121" name="Rounded Rectangle 120"/>
          <p:cNvSpPr/>
          <p:nvPr/>
        </p:nvSpPr>
        <p:spPr>
          <a:xfrm>
            <a:off x="3172968" y="1234440"/>
            <a:ext cx="2743200" cy="288036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A73E8"/>
                </a:solidFill>
                <a:latin typeface="Google Sans Flex"/>
              </a:rPr>
              <a:t>Firebase and web</a:t>
            </a:r>
          </a:p>
          <a:p>
            <a:pPr algn="l" marL="132715" indent="-132715">
              <a:spcAft>
                <a:spcPts val="300"/>
              </a:spcAft>
              <a:buChar char="•"/>
            </a:pPr>
            <a:r>
              <a:rPr sz="950" b="0" i="0">
                <a:solidFill>
                  <a:srgbClr val="202124"/>
                </a:solidFill>
                <a:latin typeface="Google Sans Flex"/>
              </a:rPr>
              <a:t>Firebase Hosting (static PWA)</a:t>
            </a:r>
          </a:p>
          <a:p>
            <a:pPr algn="l" marL="132715" indent="-132715">
              <a:spcAft>
                <a:spcPts val="300"/>
              </a:spcAft>
              <a:buChar char="•"/>
            </a:pPr>
            <a:r>
              <a:rPr sz="950" b="0" i="0">
                <a:solidFill>
                  <a:srgbClr val="202124"/>
                </a:solidFill>
                <a:latin typeface="Google Sans Flex"/>
              </a:rPr>
              <a:t>Firebase Auth: Google, email and password, phone OTP</a:t>
            </a:r>
          </a:p>
          <a:p>
            <a:pPr algn="l" marL="132715" indent="-132715">
              <a:spcAft>
                <a:spcPts val="300"/>
              </a:spcAft>
              <a:buChar char="•"/>
            </a:pPr>
            <a:r>
              <a:rPr sz="950" b="0" i="0">
                <a:solidFill>
                  <a:srgbClr val="202124"/>
                </a:solidFill>
                <a:latin typeface="Google Sans Flex"/>
              </a:rPr>
              <a:t>Next.js 16, TypeScript, Tailwind v4, zustand</a:t>
            </a:r>
          </a:p>
          <a:p>
            <a:pPr algn="l" marL="132715" indent="-132715">
              <a:spcAft>
                <a:spcPts val="300"/>
              </a:spcAft>
              <a:buChar char="•"/>
            </a:pPr>
            <a:r>
              <a:rPr sz="950" b="0" i="0">
                <a:solidFill>
                  <a:srgbClr val="202124"/>
                </a:solidFill>
                <a:latin typeface="Google Sans Flex"/>
              </a:rPr>
              <a:t>Web Audio and AudioWorklet for live voice</a:t>
            </a:r>
          </a:p>
          <a:p>
            <a:pPr algn="l" marL="132715" indent="-132715">
              <a:spcAft>
                <a:spcPts val="300"/>
              </a:spcAft>
              <a:buChar char="•"/>
            </a:pPr>
            <a:r>
              <a:rPr sz="950" b="0" i="0">
                <a:solidFill>
                  <a:srgbClr val="202124"/>
                </a:solidFill>
                <a:latin typeface="Google Sans Flex"/>
              </a:rPr>
              <a:t>Barcode and QR scanning in the browser</a:t>
            </a:r>
          </a:p>
          <a:p>
            <a:pPr algn="l" marL="132715" indent="-132715">
              <a:spcAft>
                <a:spcPts val="300"/>
              </a:spcAft>
              <a:buChar char="•"/>
            </a:pPr>
            <a:r>
              <a:rPr sz="950" b="0" i="0">
                <a:solidFill>
                  <a:srgbClr val="202124"/>
                </a:solidFill>
                <a:latin typeface="Google Sans Flex"/>
              </a:rPr>
              <a:t>Recharts, qrcode.react</a:t>
            </a:r>
          </a:p>
          <a:p>
            <a:pPr algn="l" marL="132715" indent="-132715">
              <a:spcAft>
                <a:spcPts val="300"/>
              </a:spcAft>
              <a:buChar char="•"/>
            </a:pPr>
            <a:r>
              <a:rPr sz="950" b="0" i="0">
                <a:solidFill>
                  <a:srgbClr val="202124"/>
                </a:solidFill>
                <a:latin typeface="Google Sans Flex"/>
              </a:rPr>
              <a:t>vitest (32 tests), lint and static build in CI</a:t>
            </a:r>
          </a:p>
        </p:txBody>
      </p:sp>
      <p:sp>
        <p:nvSpPr>
          <p:cNvPr id="122" name="Rounded Rectangle 121"/>
          <p:cNvSpPr/>
          <p:nvPr/>
        </p:nvSpPr>
        <p:spPr>
          <a:xfrm>
            <a:off x="6071616" y="1234440"/>
            <a:ext cx="2743200" cy="288036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C26D00"/>
                </a:solidFill>
                <a:latin typeface="Google Sans Flex"/>
              </a:rPr>
              <a:t>Backend and data</a:t>
            </a:r>
          </a:p>
          <a:p>
            <a:pPr algn="l" marL="132715" indent="-132715">
              <a:spcAft>
                <a:spcPts val="300"/>
              </a:spcAft>
              <a:buChar char="•"/>
            </a:pPr>
            <a:r>
              <a:rPr sz="950" b="0" i="0">
                <a:solidFill>
                  <a:srgbClr val="202124"/>
                </a:solidFill>
                <a:latin typeface="Google Sans Flex"/>
              </a:rPr>
              <a:t>Python 3.12, FastAPI, google-genai SDK</a:t>
            </a:r>
          </a:p>
          <a:p>
            <a:pPr algn="l" marL="132715" indent="-132715">
              <a:spcAft>
                <a:spcPts val="300"/>
              </a:spcAft>
              <a:buChar char="•"/>
            </a:pPr>
            <a:r>
              <a:rPr sz="950" b="0" i="0">
                <a:solidFill>
                  <a:srgbClr val="202124"/>
                </a:solidFill>
                <a:latin typeface="Google Sans Flex"/>
              </a:rPr>
              <a:t>MCP over Streamable HTTP JSON-RPC: hosted servers and a guarded client</a:t>
            </a:r>
          </a:p>
          <a:p>
            <a:pPr algn="l" marL="132715" indent="-132715">
              <a:spcAft>
                <a:spcPts val="300"/>
              </a:spcAft>
              <a:buChar char="•"/>
            </a:pPr>
            <a:r>
              <a:rPr sz="950" b="0" i="0">
                <a:solidFill>
                  <a:srgbClr val="202124"/>
                </a:solidFill>
                <a:latin typeface="Google Sans Flex"/>
              </a:rPr>
              <a:t>openpyxl (Excel template and upload), SQLAlchemy, psycopg, PyMySQL, httpx</a:t>
            </a:r>
          </a:p>
          <a:p>
            <a:pPr algn="l" marL="132715" indent="-132715">
              <a:spcAft>
                <a:spcPts val="300"/>
              </a:spcAft>
              <a:buChar char="•"/>
            </a:pPr>
            <a:r>
              <a:rPr sz="950" b="0" i="0">
                <a:solidFill>
                  <a:srgbClr val="202124"/>
                </a:solidFill>
                <a:latin typeface="Google Sans Flex"/>
              </a:rPr>
              <a:t>HMAC-signed sync contract, outbox with retries</a:t>
            </a:r>
          </a:p>
          <a:p>
            <a:pPr algn="l" marL="132715" indent="-132715">
              <a:spcAft>
                <a:spcPts val="300"/>
              </a:spcAft>
              <a:buChar char="•"/>
            </a:pPr>
            <a:r>
              <a:rPr sz="950" b="0" i="0">
                <a:solidFill>
                  <a:srgbClr val="202124"/>
                </a:solidFill>
                <a:latin typeface="Google Sans Flex"/>
              </a:rPr>
              <a:t>Open Food Facts for real barcodes</a:t>
            </a:r>
          </a:p>
          <a:p>
            <a:pPr algn="l" marL="132715" indent="-132715">
              <a:spcAft>
                <a:spcPts val="300"/>
              </a:spcAft>
              <a:buChar char="•"/>
            </a:pPr>
            <a:r>
              <a:rPr sz="950" b="0" i="0">
                <a:solidFill>
                  <a:srgbClr val="202124"/>
                </a:solidFill>
                <a:latin typeface="Google Sans Flex"/>
              </a:rPr>
              <a:t>pytest on the Firestore emulator (380 tests), GitHub Actions CI</a:t>
            </a:r>
          </a:p>
          <a:p>
            <a:pPr algn="l" marL="132715" indent="-132715">
              <a:spcAft>
                <a:spcPts val="300"/>
              </a:spcAft>
              <a:buChar char="•"/>
            </a:pPr>
            <a:r>
              <a:rPr sz="950" b="0" i="0">
                <a:solidFill>
                  <a:srgbClr val="202124"/>
                </a:solidFill>
                <a:latin typeface="Google Sans Flex"/>
              </a:rPr>
              <a:t>Design notes per module in docs/lld, control map in docs/security.md</a:t>
            </a:r>
          </a:p>
        </p:txBody>
      </p:sp>
      <p:sp>
        <p:nvSpPr>
          <p:cNvPr id="123" name="TextBox 122"/>
          <p:cNvSpPr txBox="1"/>
          <p:nvPr/>
        </p:nvSpPr>
        <p:spPr>
          <a:xfrm>
            <a:off x="274320" y="4224528"/>
            <a:ext cx="8595360" cy="502920"/>
          </a:xfrm>
          <a:prstGeom prst="rect">
            <a:avLst/>
          </a:prstGeom>
          <a:noFill/>
        </p:spPr>
        <p:txBody>
          <a:bodyPr wrap="square" anchor="t" lIns="45720" rIns="45720" tIns="27432" bIns="27432">
            <a:spAutoFit/>
          </a:bodyPr>
          <a:lstStyle/>
          <a:p>
            <a:pPr algn="l">
              <a:spcAft>
                <a:spcPts val="400"/>
              </a:spcAft>
            </a:pPr>
            <a:r>
              <a:rPr sz="1000" b="0" i="1">
                <a:solidFill>
                  <a:srgbClr val="5F6368"/>
                </a:solidFill>
                <a:latin typeface="Google Sans Flex"/>
              </a:rPr>
              <a:t>Why these: Gemini for language, vision, grounding and proposals; Firestore transactions for anything that counts or pays; BigQuery ML for forecasts without an ML pipeline; Cloud Run so one shop costs a warm instance, not a server; MCP so other agents can shop the catalog.</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274320" y="1188720"/>
            <a:ext cx="8595360" cy="457200"/>
          </a:xfrm>
          <a:prstGeom prst="rect">
            <a:avLst/>
          </a:prstGeom>
          <a:noFill/>
        </p:spPr>
        <p:txBody>
          <a:bodyPr wrap="square" anchor="t" lIns="45720" rIns="45720" tIns="27432" bIns="27432">
            <a:spAutoFit/>
          </a:bodyPr>
          <a:lstStyle/>
          <a:p>
            <a:pPr algn="l">
              <a:spcAft>
                <a:spcPts val="400"/>
              </a:spcAft>
            </a:pPr>
            <a:r>
              <a:rPr sz="1050" b="0" i="0">
                <a:solidFill>
                  <a:srgbClr val="5F6368"/>
                </a:solidFill>
                <a:latin typeface="Google Sans Flex"/>
              </a:rPr>
              <a:t>Indicative monthly cost for one shop at pilot scale (about 300 visits a day, one warm API instance, asia-south1). List prices change; the usage lines scale with conversations.</a:t>
            </a:r>
          </a:p>
        </p:txBody>
      </p:sp>
      <p:graphicFrame>
        <p:nvGraphicFramePr>
          <p:cNvPr id="129" name="Table 128"/>
          <p:cNvGraphicFramePr>
            <a:graphicFrameLocks noGrp="1"/>
          </p:cNvGraphicFramePr>
          <p:nvPr/>
        </p:nvGraphicFramePr>
        <p:xfrm>
          <a:off x="274320" y="1691640"/>
          <a:ext cx="8595360" cy="2779776"/>
        </p:xfrm>
        <a:graphic>
          <a:graphicData uri="http://schemas.openxmlformats.org/drawingml/2006/table">
            <a:tbl>
              <a:tblPr firstRow="1" bandRow="1"/>
              <a:tblGrid>
                <a:gridCol w="1737360"/>
                <a:gridCol w="4846320"/>
                <a:gridCol w="2011680"/>
              </a:tblGrid>
              <a:tr h="347472">
                <a:tc>
                  <a:txBody>
                    <a:bodyPr wrap="square"/>
                    <a:lstStyle/>
                    <a:p>
                      <a:pPr>
                        <a:spcAft>
                          <a:spcPts val="0"/>
                        </a:spcAft>
                      </a:pPr>
                      <a:r>
                        <a:rPr sz="950" b="1" i="0">
                          <a:solidFill>
                            <a:srgbClr val="202124"/>
                          </a:solidFill>
                          <a:latin typeface="Google Sans Flex"/>
                        </a:rPr>
                        <a:t>Component</a:t>
                      </a:r>
                    </a:p>
                  </a:txBody>
                  <a:tcPr marL="54864" marR="54864" marT="27432" marB="27432">
                    <a:solidFill>
                      <a:srgbClr val="E8F0FE"/>
                    </a:solidFill>
                  </a:tcPr>
                </a:tc>
                <a:tc>
                  <a:txBody>
                    <a:bodyPr wrap="square"/>
                    <a:lstStyle/>
                    <a:p>
                      <a:pPr>
                        <a:spcAft>
                          <a:spcPts val="0"/>
                        </a:spcAft>
                      </a:pPr>
                      <a:r>
                        <a:rPr sz="950" b="1" i="0">
                          <a:solidFill>
                            <a:srgbClr val="202124"/>
                          </a:solidFill>
                          <a:latin typeface="Google Sans Flex"/>
                        </a:rPr>
                        <a:t>What drives it</a:t>
                      </a:r>
                    </a:p>
                  </a:txBody>
                  <a:tcPr marL="54864" marR="54864" marT="27432" marB="27432">
                    <a:solidFill>
                      <a:srgbClr val="E8F0FE"/>
                    </a:solidFill>
                  </a:tcPr>
                </a:tc>
                <a:tc>
                  <a:txBody>
                    <a:bodyPr wrap="square"/>
                    <a:lstStyle/>
                    <a:p>
                      <a:pPr>
                        <a:spcAft>
                          <a:spcPts val="0"/>
                        </a:spcAft>
                      </a:pPr>
                      <a:r>
                        <a:rPr sz="950" b="1" i="0">
                          <a:solidFill>
                            <a:srgbClr val="202124"/>
                          </a:solidFill>
                          <a:latin typeface="Google Sans Flex"/>
                        </a:rPr>
                        <a:t>Indicative cost per month</a:t>
                      </a:r>
                    </a:p>
                  </a:txBody>
                  <a:tcPr marL="54864" marR="54864" marT="27432" marB="27432">
                    <a:solidFill>
                      <a:srgbClr val="E8F0FE"/>
                    </a:solidFill>
                  </a:tcPr>
                </a:tc>
              </a:tr>
              <a:tr h="347472">
                <a:tc>
                  <a:txBody>
                    <a:bodyPr wrap="square"/>
                    <a:lstStyle/>
                    <a:p>
                      <a:pPr>
                        <a:spcAft>
                          <a:spcPts val="0"/>
                        </a:spcAft>
                      </a:pPr>
                      <a:r>
                        <a:rPr sz="950" b="0" i="0">
                          <a:solidFill>
                            <a:srgbClr val="202124"/>
                          </a:solidFill>
                          <a:latin typeface="Google Sans Flex"/>
                        </a:rPr>
                        <a:t>Cloud Run API</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One warm instance (1 vCPU, 1 GiB), scales to three under load</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₹1,200 to ₹2,500</a:t>
                      </a:r>
                    </a:p>
                  </a:txBody>
                  <a:tcPr marL="54864" marR="54864" marT="27432" marB="27432">
                    <a:solidFill>
                      <a:srgbClr val="FFFFFF"/>
                    </a:solidFill>
                  </a:tcPr>
                </a:tc>
              </a:tr>
              <a:tr h="347472">
                <a:tc>
                  <a:txBody>
                    <a:bodyPr wrap="square"/>
                    <a:lstStyle/>
                    <a:p>
                      <a:pPr>
                        <a:spcAft>
                          <a:spcPts val="0"/>
                        </a:spcAft>
                      </a:pPr>
                      <a:r>
                        <a:rPr sz="950" b="0" i="0">
                          <a:solidFill>
                            <a:srgbClr val="202124"/>
                          </a:solidFill>
                          <a:latin typeface="Google Sans Flex"/>
                        </a:rPr>
                        <a:t>Gemini usage</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Voice: about ₹5 per visit of 8 turns. Text: under ₹0.50 per question. Forecast rationale, mapping and product facts: a few paise each</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₹4,000 to ₹12,000 depending on voice share</a:t>
                      </a:r>
                    </a:p>
                  </a:txBody>
                  <a:tcPr marL="54864" marR="54864" marT="27432" marB="27432">
                    <a:solidFill>
                      <a:srgbClr val="F1F3F4"/>
                    </a:solidFill>
                  </a:tcPr>
                </a:tc>
              </a:tr>
              <a:tr h="347472">
                <a:tc>
                  <a:txBody>
                    <a:bodyPr wrap="square"/>
                    <a:lstStyle/>
                    <a:p>
                      <a:pPr>
                        <a:spcAft>
                          <a:spcPts val="0"/>
                        </a:spcAft>
                      </a:pPr>
                      <a:r>
                        <a:rPr sz="950" b="0" i="0">
                          <a:solidFill>
                            <a:srgbClr val="202124"/>
                          </a:solidFill>
                          <a:latin typeface="Google Sans Flex"/>
                        </a:rPr>
                        <a:t>Firestore</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Catalog, carts, orders, customers, memory; mostly inside the free tier at this scale</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₹0 to ₹500</a:t>
                      </a:r>
                    </a:p>
                  </a:txBody>
                  <a:tcPr marL="54864" marR="54864" marT="27432" marB="27432">
                    <a:solidFill>
                      <a:srgbClr val="FFFFFF"/>
                    </a:solidFill>
                  </a:tcPr>
                </a:tc>
              </a:tr>
              <a:tr h="347472">
                <a:tc>
                  <a:txBody>
                    <a:bodyPr wrap="square"/>
                    <a:lstStyle/>
                    <a:p>
                      <a:pPr>
                        <a:spcAft>
                          <a:spcPts val="0"/>
                        </a:spcAft>
                      </a:pPr>
                      <a:r>
                        <a:rPr sz="950" b="0" i="0">
                          <a:solidFill>
                            <a:srgbClr val="202124"/>
                          </a:solidFill>
                          <a:latin typeface="Google Sans Flex"/>
                        </a:rPr>
                        <a:t>BigQuery ML</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Nightly ARIMA_PLUS retraining per store, small tables</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₹0 to ₹300</a:t>
                      </a:r>
                    </a:p>
                  </a:txBody>
                  <a:tcPr marL="54864" marR="54864" marT="27432" marB="27432">
                    <a:solidFill>
                      <a:srgbClr val="F1F3F4"/>
                    </a:solidFill>
                  </a:tcPr>
                </a:tc>
              </a:tr>
              <a:tr h="347472">
                <a:tc>
                  <a:txBody>
                    <a:bodyPr wrap="square"/>
                    <a:lstStyle/>
                    <a:p>
                      <a:pPr>
                        <a:spcAft>
                          <a:spcPts val="0"/>
                        </a:spcAft>
                      </a:pPr>
                      <a:r>
                        <a:rPr sz="950" b="0" i="0">
                          <a:solidFill>
                            <a:srgbClr val="202124"/>
                          </a:solidFill>
                          <a:latin typeface="Google Sans Flex"/>
                        </a:rPr>
                        <a:t>Firebase Hosting and Auth</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Static hosting, Google and email sign-in free; phone OTP per SMS beyond the free allowance</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₹0 to ₹500</a:t>
                      </a:r>
                    </a:p>
                  </a:txBody>
                  <a:tcPr marL="54864" marR="54864" marT="27432" marB="27432">
                    <a:solidFill>
                      <a:srgbClr val="FFFFFF"/>
                    </a:solidFill>
                  </a:tcPr>
                </a:tc>
              </a:tr>
              <a:tr h="347472">
                <a:tc>
                  <a:txBody>
                    <a:bodyPr wrap="square"/>
                    <a:lstStyle/>
                    <a:p>
                      <a:pPr>
                        <a:spcAft>
                          <a:spcPts val="0"/>
                        </a:spcAft>
                      </a:pPr>
                      <a:r>
                        <a:rPr sz="950" b="0" i="0">
                          <a:solidFill>
                            <a:srgbClr val="202124"/>
                          </a:solidFill>
                          <a:latin typeface="Google Sans Flex"/>
                        </a:rPr>
                        <a:t>Scheduler, Secret Manager, Build</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Three jobs, a handful of secrets, source deploys</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under ₹200</a:t>
                      </a:r>
                    </a:p>
                  </a:txBody>
                  <a:tcPr marL="54864" marR="54864" marT="27432" marB="27432">
                    <a:solidFill>
                      <a:srgbClr val="F1F3F4"/>
                    </a:solidFill>
                  </a:tcPr>
                </a:tc>
              </a:tr>
              <a:tr h="347472">
                <a:tc>
                  <a:txBody>
                    <a:bodyPr wrap="square"/>
                    <a:lstStyle/>
                    <a:p>
                      <a:pPr>
                        <a:spcAft>
                          <a:spcPts val="0"/>
                        </a:spcAft>
                      </a:pPr>
                      <a:r>
                        <a:rPr sz="950" b="0" i="0">
                          <a:solidFill>
                            <a:srgbClr val="202124"/>
                          </a:solidFill>
                          <a:latin typeface="Google Sans Flex"/>
                        </a:rPr>
                        <a:t>Total</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Platform fixed cost plus usage; no per-seat licence, no hardware beyond a phone and an optional tablet</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about ₹6,000 to ₹16,000</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274320" y="1097280"/>
            <a:ext cx="8595360" cy="237744"/>
          </a:xfrm>
          <a:prstGeom prst="rect">
            <a:avLst/>
          </a:prstGeom>
          <a:noFill/>
        </p:spPr>
        <p:txBody>
          <a:bodyPr wrap="square" anchor="t" lIns="45720" rIns="45720" tIns="27432" bIns="27432">
            <a:spAutoFit/>
          </a:bodyPr>
          <a:lstStyle/>
          <a:p>
            <a:pPr algn="l">
              <a:spcAft>
                <a:spcPts val="0"/>
              </a:spcAft>
            </a:pPr>
            <a:r>
              <a:rPr sz="950" b="0" i="0">
                <a:solidFill>
                  <a:srgbClr val="5F6368"/>
                </a:solidFill>
                <a:latin typeface="Google Sans Flex"/>
              </a:rPr>
              <a:t>Owner dashboard of the demo store DailyGoods, captured 18 Oct 2026 on a laptop; the phone screens are on the wireframes slide.</a:t>
            </a:r>
          </a:p>
        </p:txBody>
      </p:sp>
      <p:pic>
        <p:nvPicPr>
          <p:cNvPr id="137" name="Picture 136" descr="owner-overview.png"/>
          <p:cNvPicPr>
            <a:picLocks noChangeAspect="1"/>
          </p:cNvPicPr>
          <p:nvPr/>
        </p:nvPicPr>
        <p:blipFill>
          <a:blip r:embed="rId5"/>
          <a:stretch>
            <a:fillRect/>
          </a:stretch>
        </p:blipFill>
        <p:spPr>
          <a:xfrm>
            <a:off x="274320" y="1371600"/>
            <a:ext cx="2606040" cy="1628775"/>
          </a:xfrm>
          <a:prstGeom prst="rect">
            <a:avLst/>
          </a:prstGeom>
          <a:ln w="6350">
            <a:solidFill>
              <a:srgbClr val="DADCE0"/>
            </a:solidFill>
          </a:ln>
        </p:spPr>
      </p:pic>
      <p:sp>
        <p:nvSpPr>
          <p:cNvPr id="138" name="TextBox 137"/>
          <p:cNvSpPr txBox="1"/>
          <p:nvPr/>
        </p:nvSpPr>
        <p:spPr>
          <a:xfrm>
            <a:off x="182879" y="30278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Today: sales so far, low stock, open decisions</a:t>
            </a:r>
          </a:p>
        </p:txBody>
      </p:sp>
      <p:pic>
        <p:nvPicPr>
          <p:cNvPr id="139" name="Picture 138" descr="owner-integrations.png"/>
          <p:cNvPicPr>
            <a:picLocks noChangeAspect="1"/>
          </p:cNvPicPr>
          <p:nvPr/>
        </p:nvPicPr>
        <p:blipFill>
          <a:blip r:embed="rId6"/>
          <a:stretch>
            <a:fillRect/>
          </a:stretch>
        </p:blipFill>
        <p:spPr>
          <a:xfrm>
            <a:off x="3268979" y="1371600"/>
            <a:ext cx="2606040" cy="1628775"/>
          </a:xfrm>
          <a:prstGeom prst="rect">
            <a:avLst/>
          </a:prstGeom>
          <a:ln w="6350">
            <a:solidFill>
              <a:srgbClr val="DADCE0"/>
            </a:solidFill>
          </a:ln>
        </p:spPr>
      </p:pic>
      <p:sp>
        <p:nvSpPr>
          <p:cNvPr id="140" name="TextBox 139"/>
          <p:cNvSpPr txBox="1"/>
          <p:nvPr/>
        </p:nvSpPr>
        <p:spPr>
          <a:xfrm>
            <a:off x="3177539" y="30278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Integrations: file, sheet, API, database, MCP</a:t>
            </a:r>
          </a:p>
        </p:txBody>
      </p:sp>
      <p:pic>
        <p:nvPicPr>
          <p:cNvPr id="141" name="Picture 140" descr="owner-reorders.png"/>
          <p:cNvPicPr>
            <a:picLocks noChangeAspect="1"/>
          </p:cNvPicPr>
          <p:nvPr/>
        </p:nvPicPr>
        <p:blipFill>
          <a:blip r:embed="rId7"/>
          <a:stretch>
            <a:fillRect/>
          </a:stretch>
        </p:blipFill>
        <p:spPr>
          <a:xfrm>
            <a:off x="6263640" y="1371600"/>
            <a:ext cx="2606040" cy="1628775"/>
          </a:xfrm>
          <a:prstGeom prst="rect">
            <a:avLst/>
          </a:prstGeom>
          <a:ln w="6350">
            <a:solidFill>
              <a:srgbClr val="DADCE0"/>
            </a:solidFill>
          </a:ln>
        </p:spPr>
      </p:pic>
      <p:sp>
        <p:nvSpPr>
          <p:cNvPr id="142" name="TextBox 141"/>
          <p:cNvSpPr txBox="1"/>
          <p:nvPr/>
        </p:nvSpPr>
        <p:spPr>
          <a:xfrm>
            <a:off x="6172200" y="30278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Reorders by supplier with a Gemini rationale</a:t>
            </a:r>
          </a:p>
        </p:txBody>
      </p:sp>
      <p:pic>
        <p:nvPicPr>
          <p:cNvPr id="143" name="Picture 142" descr="owner-signals.png"/>
          <p:cNvPicPr>
            <a:picLocks noChangeAspect="1"/>
          </p:cNvPicPr>
          <p:nvPr/>
        </p:nvPicPr>
        <p:blipFill>
          <a:blip r:embed="rId8"/>
          <a:stretch>
            <a:fillRect/>
          </a:stretch>
        </p:blipFill>
        <p:spPr>
          <a:xfrm>
            <a:off x="274320" y="3200400"/>
            <a:ext cx="2606040" cy="1628775"/>
          </a:xfrm>
          <a:prstGeom prst="rect">
            <a:avLst/>
          </a:prstGeom>
          <a:ln w="6350">
            <a:solidFill>
              <a:srgbClr val="DADCE0"/>
            </a:solidFill>
          </a:ln>
        </p:spPr>
      </p:pic>
      <p:sp>
        <p:nvSpPr>
          <p:cNvPr id="144" name="TextBox 143"/>
          <p:cNvSpPr txBox="1"/>
          <p:nvPr/>
        </p:nvSpPr>
        <p:spPr>
          <a:xfrm>
            <a:off x="182879" y="48566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Demand signals: asked for but not carried</a:t>
            </a:r>
          </a:p>
        </p:txBody>
      </p:sp>
      <p:pic>
        <p:nvPicPr>
          <p:cNvPr id="145" name="Picture 144" descr="owner-customers.png"/>
          <p:cNvPicPr>
            <a:picLocks noChangeAspect="1"/>
          </p:cNvPicPr>
          <p:nvPr/>
        </p:nvPicPr>
        <p:blipFill>
          <a:blip r:embed="rId9"/>
          <a:stretch>
            <a:fillRect/>
          </a:stretch>
        </p:blipFill>
        <p:spPr>
          <a:xfrm>
            <a:off x="3268979" y="3200400"/>
            <a:ext cx="2606040" cy="1628775"/>
          </a:xfrm>
          <a:prstGeom prst="rect">
            <a:avLst/>
          </a:prstGeom>
          <a:ln w="6350">
            <a:solidFill>
              <a:srgbClr val="DADCE0"/>
            </a:solidFill>
          </a:ln>
        </p:spPr>
      </p:pic>
      <p:sp>
        <p:nvSpPr>
          <p:cNvPr id="146" name="TextBox 145"/>
          <p:cNvSpPr txBox="1"/>
          <p:nvPr/>
        </p:nvSpPr>
        <p:spPr>
          <a:xfrm>
            <a:off x="3177539" y="48566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Customers: segments, spend, points</a:t>
            </a:r>
          </a:p>
        </p:txBody>
      </p:sp>
      <p:pic>
        <p:nvPicPr>
          <p:cNvPr id="147" name="Picture 146" descr="owner-mcp.png"/>
          <p:cNvPicPr>
            <a:picLocks noChangeAspect="1"/>
          </p:cNvPicPr>
          <p:nvPr/>
        </p:nvPicPr>
        <p:blipFill>
          <a:blip r:embed="rId10"/>
          <a:stretch>
            <a:fillRect/>
          </a:stretch>
        </p:blipFill>
        <p:spPr>
          <a:xfrm>
            <a:off x="6263640" y="3200400"/>
            <a:ext cx="2606040" cy="1628775"/>
          </a:xfrm>
          <a:prstGeom prst="rect">
            <a:avLst/>
          </a:prstGeom>
          <a:ln w="6350">
            <a:solidFill>
              <a:srgbClr val="DADCE0"/>
            </a:solidFill>
          </a:ln>
        </p:spPr>
      </p:pic>
      <p:sp>
        <p:nvSpPr>
          <p:cNvPr id="148" name="TextBox 147"/>
          <p:cNvSpPr txBox="1"/>
          <p:nvPr/>
        </p:nvSpPr>
        <p:spPr>
          <a:xfrm>
            <a:off x="6172200" y="4856607"/>
            <a:ext cx="2788920" cy="237744"/>
          </a:xfrm>
          <a:prstGeom prst="rect">
            <a:avLst/>
          </a:prstGeom>
          <a:noFill/>
        </p:spPr>
        <p:txBody>
          <a:bodyPr wrap="square" anchor="t" lIns="45720" rIns="45720" tIns="27432" bIns="27432">
            <a:spAutoFit/>
          </a:bodyPr>
          <a:lstStyle/>
          <a:p>
            <a:pPr algn="ctr">
              <a:spcAft>
                <a:spcPts val="0"/>
              </a:spcAft>
            </a:pPr>
            <a:r>
              <a:rPr sz="850" b="0" i="0">
                <a:solidFill>
                  <a:srgbClr val="5F6368"/>
                </a:solidFill>
                <a:latin typeface="Google Sans Flex"/>
              </a:rPr>
              <a:t>MCP source: list tools, preview, confirm</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274320" y="1170432"/>
            <a:ext cx="8595360" cy="365760"/>
          </a:xfrm>
          <a:prstGeom prst="rect">
            <a:avLst/>
          </a:prstGeom>
          <a:noFill/>
        </p:spPr>
        <p:txBody>
          <a:bodyPr wrap="square" anchor="t" lIns="45720" rIns="45720" tIns="27432" bIns="27432">
            <a:spAutoFit/>
          </a:bodyPr>
          <a:lstStyle/>
          <a:p>
            <a:pPr algn="l">
              <a:spcAft>
                <a:spcPts val="400"/>
              </a:spcAft>
            </a:pPr>
            <a:r>
              <a:rPr sz="1050" b="0" i="0">
                <a:solidFill>
                  <a:srgbClr val="5F6368"/>
                </a:solidFill>
                <a:latin typeface="Google Sans Flex"/>
              </a:rPr>
              <a:t>Measured on the deployed Cloud Run service on 18 Oct 2026 from a laptop in India; latencies are medians of three runs.</a:t>
            </a:r>
          </a:p>
        </p:txBody>
      </p:sp>
      <p:graphicFrame>
        <p:nvGraphicFramePr>
          <p:cNvPr id="145" name="Table 144"/>
          <p:cNvGraphicFramePr>
            <a:graphicFrameLocks noGrp="1"/>
          </p:cNvGraphicFramePr>
          <p:nvPr/>
        </p:nvGraphicFramePr>
        <p:xfrm>
          <a:off x="274320" y="1554480"/>
          <a:ext cx="8595360" cy="3319272"/>
        </p:xfrm>
        <a:graphic>
          <a:graphicData uri="http://schemas.openxmlformats.org/drawingml/2006/table">
            <a:tbl>
              <a:tblPr firstRow="1" bandRow="1"/>
              <a:tblGrid>
                <a:gridCol w="4206240"/>
                <a:gridCol w="4389120"/>
              </a:tblGrid>
              <a:tr h="301752">
                <a:tc>
                  <a:txBody>
                    <a:bodyPr wrap="square"/>
                    <a:lstStyle/>
                    <a:p>
                      <a:pPr>
                        <a:spcAft>
                          <a:spcPts val="0"/>
                        </a:spcAft>
                      </a:pPr>
                      <a:r>
                        <a:rPr sz="950" b="1" i="0">
                          <a:solidFill>
                            <a:srgbClr val="202124"/>
                          </a:solidFill>
                          <a:latin typeface="Google Sans Flex"/>
                        </a:rPr>
                        <a:t>Measure</a:t>
                      </a:r>
                    </a:p>
                  </a:txBody>
                  <a:tcPr marL="54864" marR="54864" marT="27432" marB="27432">
                    <a:solidFill>
                      <a:srgbClr val="E8F0FE"/>
                    </a:solidFill>
                  </a:tcPr>
                </a:tc>
                <a:tc>
                  <a:txBody>
                    <a:bodyPr wrap="square"/>
                    <a:lstStyle/>
                    <a:p>
                      <a:pPr>
                        <a:spcAft>
                          <a:spcPts val="0"/>
                        </a:spcAft>
                      </a:pPr>
                      <a:r>
                        <a:rPr sz="950" b="1" i="0">
                          <a:solidFill>
                            <a:srgbClr val="202124"/>
                          </a:solidFill>
                          <a:latin typeface="Google Sans Flex"/>
                        </a:rPr>
                        <a:t>Result</a:t>
                      </a:r>
                    </a:p>
                  </a:txBody>
                  <a:tcPr marL="54864" marR="54864" marT="27432" marB="27432">
                    <a:solidFill>
                      <a:srgbClr val="E8F0FE"/>
                    </a:solidFill>
                  </a:tcPr>
                </a:tc>
              </a:tr>
              <a:tr h="301752">
                <a:tc>
                  <a:txBody>
                    <a:bodyPr wrap="square"/>
                    <a:lstStyle/>
                    <a:p>
                      <a:pPr>
                        <a:spcAft>
                          <a:spcPts val="0"/>
                        </a:spcAft>
                      </a:pPr>
                      <a:r>
                        <a:rPr sz="950" b="0" i="0">
                          <a:solidFill>
                            <a:srgbClr val="202124"/>
                          </a:solidFill>
                          <a:latin typeface="Google Sans Flex"/>
                        </a:rPr>
                        <a:t>Store catalog read (DailyGoods, 1,541 products)</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117 ms</a:t>
                      </a:r>
                    </a:p>
                  </a:txBody>
                  <a:tcPr marL="54864" marR="54864" marT="27432" marB="27432">
                    <a:solidFill>
                      <a:srgbClr val="FFFFFF"/>
                    </a:solidFill>
                  </a:tcPr>
                </a:tc>
              </a:tr>
              <a:tr h="301752">
                <a:tc>
                  <a:txBody>
                    <a:bodyPr wrap="square"/>
                    <a:lstStyle/>
                    <a:p>
                      <a:pPr>
                        <a:spcAft>
                          <a:spcPts val="0"/>
                        </a:spcAft>
                      </a:pPr>
                      <a:r>
                        <a:rPr sz="950" b="0" i="0">
                          <a:solidFill>
                            <a:srgbClr val="202124"/>
                          </a:solidFill>
                          <a:latin typeface="Google Sans Flex"/>
                        </a:rPr>
                        <a:t>Text question with tool calls: first visible event</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1.2 to 2.0 s</a:t>
                      </a:r>
                    </a:p>
                  </a:txBody>
                  <a:tcPr marL="54864" marR="54864" marT="27432" marB="27432">
                    <a:solidFill>
                      <a:srgbClr val="F1F3F4"/>
                    </a:solidFill>
                  </a:tcPr>
                </a:tc>
              </a:tr>
              <a:tr h="301752">
                <a:tc>
                  <a:txBody>
                    <a:bodyPr wrap="square"/>
                    <a:lstStyle/>
                    <a:p>
                      <a:pPr>
                        <a:spcAft>
                          <a:spcPts val="0"/>
                        </a:spcAft>
                      </a:pPr>
                      <a:r>
                        <a:rPr sz="950" b="0" i="0">
                          <a:solidFill>
                            <a:srgbClr val="202124"/>
                          </a:solidFill>
                          <a:latin typeface="Google Sans Flex"/>
                        </a:rPr>
                        <a:t>Text question: full streamed reply (search, navigation, cart add)</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5.9 to 9.3 s</a:t>
                      </a:r>
                    </a:p>
                  </a:txBody>
                  <a:tcPr marL="54864" marR="54864" marT="27432" marB="27432">
                    <a:solidFill>
                      <a:srgbClr val="FFFFFF"/>
                    </a:solidFill>
                  </a:tcPr>
                </a:tc>
              </a:tr>
              <a:tr h="301752">
                <a:tc>
                  <a:txBody>
                    <a:bodyPr wrap="square"/>
                    <a:lstStyle/>
                    <a:p>
                      <a:pPr>
                        <a:spcAft>
                          <a:spcPts val="0"/>
                        </a:spcAft>
                      </a:pPr>
                      <a:r>
                        <a:rPr sz="950" b="0" i="0">
                          <a:solidFill>
                            <a:srgbClr val="202124"/>
                          </a:solidFill>
                          <a:latin typeface="Google Sans Flex"/>
                        </a:rPr>
                        <a:t>Live voice: first spoken audio after the question</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1.8 s</a:t>
                      </a:r>
                    </a:p>
                  </a:txBody>
                  <a:tcPr marL="54864" marR="54864" marT="27432" marB="27432">
                    <a:solidFill>
                      <a:srgbClr val="F1F3F4"/>
                    </a:solidFill>
                  </a:tcPr>
                </a:tc>
              </a:tr>
              <a:tr h="301752">
                <a:tc>
                  <a:txBody>
                    <a:bodyPr wrap="square"/>
                    <a:lstStyle/>
                    <a:p>
                      <a:pPr>
                        <a:spcAft>
                          <a:spcPts val="0"/>
                        </a:spcAft>
                      </a:pPr>
                      <a:r>
                        <a:rPr sz="950" b="0" i="0">
                          <a:solidFill>
                            <a:srgbClr val="202124"/>
                          </a:solidFill>
                          <a:latin typeface="Google Sans Flex"/>
                        </a:rPr>
                        <a:t>Live voice: a 22-second spoken answer fully delivered</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5.0 s (plays while it streams)</a:t>
                      </a:r>
                    </a:p>
                  </a:txBody>
                  <a:tcPr marL="54864" marR="54864" marT="27432" marB="27432">
                    <a:solidFill>
                      <a:srgbClr val="FFFFFF"/>
                    </a:solidFill>
                  </a:tcPr>
                </a:tc>
              </a:tr>
              <a:tr h="301752">
                <a:tc>
                  <a:txBody>
                    <a:bodyPr wrap="square"/>
                    <a:lstStyle/>
                    <a:p>
                      <a:pPr>
                        <a:spcAft>
                          <a:spcPts val="0"/>
                        </a:spcAft>
                      </a:pPr>
                      <a:r>
                        <a:rPr sz="950" b="0" i="0">
                          <a:solidFill>
                            <a:srgbClr val="202124"/>
                          </a:solidFill>
                          <a:latin typeface="Google Sans Flex"/>
                        </a:rPr>
                        <a:t>Catalog refresh across API instances after a stock change</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within 2 s (version counter)</a:t>
                      </a:r>
                    </a:p>
                  </a:txBody>
                  <a:tcPr marL="54864" marR="54864" marT="27432" marB="27432">
                    <a:solidFill>
                      <a:srgbClr val="F1F3F4"/>
                    </a:solidFill>
                  </a:tcPr>
                </a:tc>
              </a:tr>
              <a:tr h="301752">
                <a:tc>
                  <a:txBody>
                    <a:bodyPr wrap="square"/>
                    <a:lstStyle/>
                    <a:p>
                      <a:pPr>
                        <a:spcAft>
                          <a:spcPts val="0"/>
                        </a:spcAft>
                      </a:pPr>
                      <a:r>
                        <a:rPr sz="950" b="0" i="0">
                          <a:solidFill>
                            <a:srgbClr val="202124"/>
                          </a:solidFill>
                          <a:latin typeface="Google Sans Flex"/>
                        </a:rPr>
                        <a:t>Languages in the selector</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25, each tag verified against the live model; transcripts in the spoken script</a:t>
                      </a:r>
                    </a:p>
                  </a:txBody>
                  <a:tcPr marL="54864" marR="54864" marT="27432" marB="27432">
                    <a:solidFill>
                      <a:srgbClr val="FFFFFF"/>
                    </a:solidFill>
                  </a:tcPr>
                </a:tc>
              </a:tr>
              <a:tr h="301752">
                <a:tc>
                  <a:txBody>
                    <a:bodyPr wrap="square"/>
                    <a:lstStyle/>
                    <a:p>
                      <a:pPr>
                        <a:spcAft>
                          <a:spcPts val="0"/>
                        </a:spcAft>
                      </a:pPr>
                      <a:r>
                        <a:rPr sz="950" b="0" i="0">
                          <a:solidFill>
                            <a:srgbClr val="202124"/>
                          </a:solidFill>
                          <a:latin typeface="Google Sans Flex"/>
                        </a:rPr>
                        <a:t>Automated tests</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380 backend (pytest on the Firestore emulator), 32 frontend (vitest); GitHub Actions CI</a:t>
                      </a:r>
                    </a:p>
                  </a:txBody>
                  <a:tcPr marL="54864" marR="54864" marT="27432" marB="27432">
                    <a:solidFill>
                      <a:srgbClr val="F1F3F4"/>
                    </a:solidFill>
                  </a:tcPr>
                </a:tc>
              </a:tr>
              <a:tr h="301752">
                <a:tc>
                  <a:txBody>
                    <a:bodyPr wrap="square"/>
                    <a:lstStyle/>
                    <a:p>
                      <a:pPr>
                        <a:spcAft>
                          <a:spcPts val="0"/>
                        </a:spcAft>
                      </a:pPr>
                      <a:r>
                        <a:rPr sz="950" b="0" i="0">
                          <a:solidFill>
                            <a:srgbClr val="202124"/>
                          </a:solidFill>
                          <a:latin typeface="Google Sans Flex"/>
                        </a:rPr>
                        <a:t>Live checks on the deployed service</a:t>
                      </a:r>
                    </a:p>
                  </a:txBody>
                  <a:tcPr marL="54864" marR="54864" marT="27432" marB="27432">
                    <a:solidFill>
                      <a:srgbClr val="FFFFFF"/>
                    </a:solidFill>
                  </a:tcPr>
                </a:tc>
                <a:tc>
                  <a:txBody>
                    <a:bodyPr wrap="square"/>
                    <a:lstStyle/>
                    <a:p>
                      <a:pPr>
                        <a:spcAft>
                          <a:spcPts val="0"/>
                        </a:spcAft>
                      </a:pPr>
                      <a:r>
                        <a:rPr sz="950" b="0" i="0">
                          <a:solidFill>
                            <a:srgbClr val="202124"/>
                          </a:solidFill>
                          <a:latin typeface="Google Sans Flex"/>
                        </a:rPr>
                        <a:t>Every feature: online shop, taxonomy, MCP, product facts, typed lines, inventory intake, product editor, account, Tamil voice, echo guard</a:t>
                      </a:r>
                    </a:p>
                  </a:txBody>
                  <a:tcPr marL="54864" marR="54864" marT="27432" marB="27432">
                    <a:solidFill>
                      <a:srgbClr val="FFFFFF"/>
                    </a:solidFill>
                  </a:tcPr>
                </a:tc>
              </a:tr>
              <a:tr h="301752">
                <a:tc>
                  <a:txBody>
                    <a:bodyPr wrap="square"/>
                    <a:lstStyle/>
                    <a:p>
                      <a:pPr>
                        <a:spcAft>
                          <a:spcPts val="0"/>
                        </a:spcAft>
                      </a:pPr>
                      <a:r>
                        <a:rPr sz="950" b="0" i="0">
                          <a:solidFill>
                            <a:srgbClr val="202124"/>
                          </a:solidFill>
                          <a:latin typeface="Google Sans Flex"/>
                        </a:rPr>
                        <a:t>Security</a:t>
                      </a:r>
                    </a:p>
                  </a:txBody>
                  <a:tcPr marL="54864" marR="54864" marT="27432" marB="27432">
                    <a:solidFill>
                      <a:srgbClr val="F1F3F4"/>
                    </a:solidFill>
                  </a:tcPr>
                </a:tc>
                <a:tc>
                  <a:txBody>
                    <a:bodyPr wrap="square"/>
                    <a:lstStyle/>
                    <a:p>
                      <a:pPr>
                        <a:spcAft>
                          <a:spcPts val="0"/>
                        </a:spcAft>
                      </a:pPr>
                      <a:r>
                        <a:rPr sz="950" b="0" i="0">
                          <a:solidFill>
                            <a:srgbClr val="202124"/>
                          </a:solidFill>
                          <a:latin typeface="Google Sans Flex"/>
                        </a:rPr>
                        <a:t>Every control mapped to its code path and its test in docs/security.md; known gaps listed there</a:t>
                      </a:r>
                    </a:p>
                  </a:txBody>
                  <a:tcPr marL="54864" marR="54864" marT="27432" marB="27432">
                    <a:solidFill>
                      <a:srgbClr val="F1F3F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274320" y="1234440"/>
            <a:ext cx="2743200" cy="283464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88A55"/>
                </a:solidFill>
                <a:latin typeface="Google Sans Flex"/>
              </a:rPr>
              <a:t>Next 30 days</a:t>
            </a:r>
          </a:p>
          <a:p>
            <a:pPr algn="l" marL="139700" indent="-139700">
              <a:spcAft>
                <a:spcPts val="400"/>
              </a:spcAft>
              <a:buChar char="•"/>
            </a:pPr>
            <a:r>
              <a:rPr sz="1000" b="0" i="0">
                <a:solidFill>
                  <a:srgbClr val="202124"/>
                </a:solidFill>
                <a:latin typeface="Google Sans Flex"/>
              </a:rPr>
              <a:t>Shopify adapter on the existing sync contract (Admin GraphQL, orders and inventory webhooks) and POS file drops from Cloud Storage</a:t>
            </a:r>
          </a:p>
          <a:p>
            <a:pPr algn="l" marL="139700" indent="-139700">
              <a:spcAft>
                <a:spcPts val="400"/>
              </a:spcAft>
              <a:buChar char="•"/>
            </a:pPr>
            <a:r>
              <a:rPr sz="1000" b="0" i="0">
                <a:solidFill>
                  <a:srgbClr val="202124"/>
                </a:solidFill>
                <a:latin typeface="Google Sans Flex"/>
              </a:rPr>
              <a:t>GST invoices and returns against a receipt</a:t>
            </a:r>
          </a:p>
          <a:p>
            <a:pPr algn="l" marL="139700" indent="-139700">
              <a:spcAft>
                <a:spcPts val="400"/>
              </a:spcAft>
              <a:buChar char="•"/>
            </a:pPr>
            <a:r>
              <a:rPr sz="1000" b="0" i="0">
                <a:solidFill>
                  <a:srgbClr val="202124"/>
                </a:solidFill>
                <a:latin typeface="Google Sans Flex"/>
              </a:rPr>
              <a:t>90-day retention job for verification records and conversation turns</a:t>
            </a:r>
          </a:p>
          <a:p>
            <a:pPr algn="l" marL="139700" indent="-139700">
              <a:spcAft>
                <a:spcPts val="400"/>
              </a:spcAft>
              <a:buChar char="•"/>
            </a:pPr>
            <a:r>
              <a:rPr sz="1000" b="0" i="0">
                <a:solidFill>
                  <a:srgbClr val="202124"/>
                </a:solidFill>
                <a:latin typeface="Google Sans Flex"/>
              </a:rPr>
              <a:t>Phone sign-in for non-Indian numbers, logo upload, a retry button for dead outbox entries</a:t>
            </a:r>
          </a:p>
        </p:txBody>
      </p:sp>
      <p:sp>
        <p:nvSpPr>
          <p:cNvPr id="153" name="Rounded Rectangle 152"/>
          <p:cNvSpPr/>
          <p:nvPr/>
        </p:nvSpPr>
        <p:spPr>
          <a:xfrm>
            <a:off x="3172968" y="1234440"/>
            <a:ext cx="2743200" cy="283464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1A73E8"/>
                </a:solidFill>
                <a:latin typeface="Google Sans Flex"/>
              </a:rPr>
              <a:t>Next quarter</a:t>
            </a:r>
          </a:p>
          <a:p>
            <a:pPr algn="l" marL="139700" indent="-139700">
              <a:spcAft>
                <a:spcPts val="400"/>
              </a:spcAft>
              <a:buChar char="•"/>
            </a:pPr>
            <a:r>
              <a:rPr sz="1000" b="0" i="0">
                <a:solidFill>
                  <a:srgbClr val="202124"/>
                </a:solidFill>
                <a:latin typeface="Google Sans Flex"/>
              </a:rPr>
              <a:t>Named adapters (Zoho Inventory, Tally Prime) on the connector agent</a:t>
            </a:r>
          </a:p>
          <a:p>
            <a:pPr algn="l" marL="139700" indent="-139700">
              <a:spcAft>
                <a:spcPts val="400"/>
              </a:spcAft>
              <a:buChar char="•"/>
            </a:pPr>
            <a:r>
              <a:rPr sz="1000" b="0" i="0">
                <a:solidFill>
                  <a:srgbClr val="202124"/>
                </a:solidFill>
                <a:latin typeface="Google Sans Flex"/>
              </a:rPr>
              <a:t>Real provider MCP servers (Swiggy Instamart once production access is granted) alongside the demo provider</a:t>
            </a:r>
          </a:p>
          <a:p>
            <a:pPr algn="l" marL="139700" indent="-139700">
              <a:spcAft>
                <a:spcPts val="400"/>
              </a:spcAft>
              <a:buChar char="•"/>
            </a:pPr>
            <a:r>
              <a:rPr sz="1000" b="0" i="0">
                <a:solidFill>
                  <a:srgbClr val="202124"/>
                </a:solidFill>
                <a:latin typeface="Google Sans Flex"/>
              </a:rPr>
              <a:t>Home delivery and order tracking for the online shop</a:t>
            </a:r>
          </a:p>
          <a:p>
            <a:pPr algn="l" marL="139700" indent="-139700">
              <a:spcAft>
                <a:spcPts val="400"/>
              </a:spcAft>
              <a:buChar char="•"/>
            </a:pPr>
            <a:r>
              <a:rPr sz="1000" b="0" i="0">
                <a:solidFill>
                  <a:srgbClr val="202124"/>
                </a:solidFill>
                <a:latin typeface="Google Sans Flex"/>
              </a:rPr>
              <a:t>Supplier portal: purchase orders sent and acknowledged</a:t>
            </a:r>
          </a:p>
        </p:txBody>
      </p:sp>
      <p:sp>
        <p:nvSpPr>
          <p:cNvPr id="154" name="Rounded Rectangle 153"/>
          <p:cNvSpPr/>
          <p:nvPr/>
        </p:nvSpPr>
        <p:spPr>
          <a:xfrm>
            <a:off x="6071616" y="1234440"/>
            <a:ext cx="2743200" cy="283464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200" b="1" i="0">
                <a:solidFill>
                  <a:srgbClr val="C26D00"/>
                </a:solidFill>
                <a:latin typeface="Google Sans Flex"/>
              </a:rPr>
              <a:t>Pilots and the business</a:t>
            </a:r>
          </a:p>
          <a:p>
            <a:pPr algn="l" marL="139700" indent="-139700">
              <a:spcAft>
                <a:spcPts val="400"/>
              </a:spcAft>
              <a:buChar char="•"/>
            </a:pPr>
            <a:r>
              <a:rPr sz="1000" b="0" i="0">
                <a:solidFill>
                  <a:srgbClr val="202124"/>
                </a:solidFill>
                <a:latin typeface="Google Sans Flex"/>
              </a:rPr>
              <a:t>Self-service registration is open today: a shop registers, uploads its inventory on the Excel or Sheets template and is live</a:t>
            </a:r>
          </a:p>
          <a:p>
            <a:pPr algn="l" marL="139700" indent="-139700">
              <a:spcAft>
                <a:spcPts val="400"/>
              </a:spcAft>
              <a:buChar char="•"/>
            </a:pPr>
            <a:r>
              <a:rPr sz="1000" b="0" i="0">
                <a:solidFill>
                  <a:srgbClr val="202124"/>
                </a:solidFill>
                <a:latin typeface="Google Sans Flex"/>
              </a:rPr>
              <a:t>Pricing idea: a flat platform fee per shop plus usage; no hardware beyond a phone and an optional tablet</a:t>
            </a:r>
          </a:p>
          <a:p>
            <a:pPr algn="l" marL="139700" indent="-139700">
              <a:spcAft>
                <a:spcPts val="400"/>
              </a:spcAft>
              <a:buChar char="•"/>
            </a:pPr>
            <a:r>
              <a:rPr sz="1000" b="0" i="0">
                <a:solidFill>
                  <a:srgbClr val="202124"/>
                </a:solidFill>
                <a:latin typeface="Google Sans Flex"/>
              </a:rPr>
              <a:t>Target: neighbourhood supermarkets in Tamil Nadu first, then any JAPAC market the model speaks</a:t>
            </a:r>
          </a:p>
          <a:p>
            <a:pPr algn="l" marL="139700" indent="-139700">
              <a:spcAft>
                <a:spcPts val="400"/>
              </a:spcAft>
              <a:buChar char="•"/>
            </a:pPr>
            <a:r>
              <a:rPr sz="1000" b="0" i="0">
                <a:solidFill>
                  <a:srgbClr val="202124"/>
                </a:solidFill>
                <a:latin typeface="Google Sans Flex"/>
              </a:rPr>
              <a:t>Measure: lost-sale signals recovered, shrink reduced, queue time removed</a:t>
            </a:r>
          </a:p>
        </p:txBody>
      </p:sp>
      <p:sp>
        <p:nvSpPr>
          <p:cNvPr id="155" name="TextBox 154"/>
          <p:cNvSpPr txBox="1"/>
          <p:nvPr/>
        </p:nvSpPr>
        <p:spPr>
          <a:xfrm>
            <a:off x="274320" y="4160520"/>
            <a:ext cx="8595360" cy="365760"/>
          </a:xfrm>
          <a:prstGeom prst="rect">
            <a:avLst/>
          </a:prstGeom>
          <a:noFill/>
        </p:spPr>
        <p:txBody>
          <a:bodyPr wrap="square" anchor="t" lIns="45720" rIns="45720" tIns="27432" bIns="27432">
            <a:spAutoFit/>
          </a:bodyPr>
          <a:lstStyle/>
          <a:p>
            <a:pPr algn="l">
              <a:spcAft>
                <a:spcPts val="400"/>
              </a:spcAft>
            </a:pPr>
            <a:r>
              <a:rPr sz="1000" b="0" i="1">
                <a:solidFill>
                  <a:srgbClr val="5F6368"/>
                </a:solidFill>
                <a:latin typeface="Google Sans Flex"/>
              </a:rPr>
              <a:t>Known gaps kept on purpose are listed at the end of docs/security.md; the roadmap is in docs/plan/09-roadmap-after-submission.md.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rP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GitHub public repository: </a:t>
            </a:r>
            <a:endParaRPr>
              <a:latin typeface="Google Sans Flex Medium"/>
              <a:ea typeface="Google Sans Flex Medium"/>
              <a:cs typeface="Google Sans Flex Medium"/>
              <a:sym typeface="Google Sans Flex Medium"/>
            </a:endParaRPr>
            <a:r>
              <a:rPr lang="en-GB" sz="1300" b="0">
                <a:solidFill>
                  <a:srgbClr val="1A73E8"/>
                </a:solidFill>
                <a:latin typeface="Google Sans Flex Medium"/>
                <a:ea typeface="Google Sans Flex Medium"/>
                <a:cs typeface="Google Sans Flex Medium"/>
                <a:sym typeface="Google Sans Flex Medium"/>
              </a:rPr>
              <a:t>https://github.com/DSsathish/royalstack_aibuilderhackathon</a:t>
            </a:r>
          </a:p>
          <a:p>
            <a:pPr indent="-317500" lvl="0" marL="457200" rtl="0" algn="l">
              <a:spcBef>
                <a:spcPts val="0"/>
              </a:spcBef>
              <a:spcAft>
                <a:spcPts val="0"/>
              </a:spcAft>
              <a:buSzPts val="1400"/>
              <a:buFont typeface="Google Sans Flex Medium"/>
              <a:buChar char="●"/>
            </a:pPr>
            <a:r>
              <a:rPr lang="en-GB" sz="1300" b="1">
                <a:solidFill>
                  <a:srgbClr val="C5221F"/>
                </a:solidFill>
                <a:latin typeface="Google Sans Flex Medium"/>
                <a:ea typeface="Google Sans Flex Medium"/>
                <a:cs typeface="Google Sans Flex Medium"/>
                <a:sym typeface="Google Sans Flex Medium"/>
              </a:rPr>
              <a:t>Demo video: Google Drive link (to be added)</a:t>
            </a:r>
            <a:endParaRPr>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sz="1300">
                <a:latin typeface="Google Sans Flex Medium"/>
                <a:ea typeface="Google Sans Flex Medium"/>
                <a:cs typeface="Google Sans Flex Medium"/>
                <a:sym typeface="Google Sans Flex Medium"/>
              </a:rPr>
              <a:t>Final product link: </a:t>
            </a:r>
            <a:endParaRPr>
              <a:latin typeface="Google Sans Flex Medium"/>
              <a:ea typeface="Google Sans Flex Medium"/>
              <a:cs typeface="Google Sans Flex Medium"/>
              <a:sym typeface="Google Sans Flex Medium"/>
            </a:endParaRPr>
            <a:r>
              <a:rPr lang="en-GB" sz="1300" b="0">
                <a:solidFill>
                  <a:srgbClr val="1A73E8"/>
                </a:solidFill>
                <a:latin typeface="Google Sans Flex Medium"/>
                <a:ea typeface="Google Sans Flex Medium"/>
                <a:cs typeface="Google Sans Flex Medium"/>
                <a:sym typeface="Google Sans Flex Medium"/>
              </a:rPr>
              <a:t>https://royastacxk-aibuildercup.web.app</a:t>
            </a:r>
          </a:p>
          <a:p>
            <a:pPr indent="0" lvl="0" marL="0" rtl="0" algn="l">
              <a:spcBef>
                <a:spcPts val="0"/>
              </a:spcBef>
              <a:spcAft>
                <a:spcPts val="0"/>
              </a:spcAft>
              <a:buNone/>
            </a:pPr>
            <a:r>
              <a:rPr/>
              <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274320" y="2194560"/>
            <a:ext cx="8595360" cy="1188720"/>
          </a:xfrm>
          <a:prstGeom prst="rect">
            <a:avLst/>
          </a:prstGeom>
          <a:noFill/>
        </p:spPr>
        <p:txBody>
          <a:bodyPr wrap="square" anchor="t" lIns="45720" rIns="45720" tIns="27432" bIns="27432">
            <a:spAutoFit/>
          </a:bodyPr>
          <a:lstStyle/>
          <a:p>
            <a:pPr algn="l">
              <a:spcAft>
                <a:spcPts val="600"/>
              </a:spcAft>
            </a:pPr>
            <a:r>
              <a:rPr sz="1200" b="1" i="0">
                <a:solidFill>
                  <a:srgbClr val="202124"/>
                </a:solidFill>
                <a:latin typeface="Google Sans Flex"/>
              </a:rPr>
              <a:t>API (OpenAPI at /docs):  </a:t>
            </a:r>
            <a:r>
              <a:rPr sz="1200" b="0" i="0">
                <a:solidFill>
                  <a:srgbClr val="1A73E8"/>
                </a:solidFill>
                <a:latin typeface="Google Sans Flex"/>
              </a:rPr>
              <a:t>https://retail-api-881917398995.asia-south1.run.app</a:t>
            </a:r>
          </a:p>
          <a:p>
            <a:pPr algn="l">
              <a:spcAft>
                <a:spcPts val="600"/>
              </a:spcAft>
            </a:pPr>
            <a:r>
              <a:rPr sz="1200" b="1" i="0">
                <a:solidFill>
                  <a:srgbClr val="202124"/>
                </a:solidFill>
                <a:latin typeface="Google Sans Flex"/>
              </a:rPr>
              <a:t>MCP index (the catalog as an MCP server):  </a:t>
            </a:r>
            <a:r>
              <a:rPr sz="1200" b="0" i="0">
                <a:solidFill>
                  <a:srgbClr val="1A73E8"/>
                </a:solidFill>
                <a:latin typeface="Google Sans Flex"/>
              </a:rPr>
              <a:t>https://retail-api-881917398995.asia-south1.run.app/mcp</a:t>
            </a:r>
          </a:p>
          <a:p>
            <a:pPr algn="l">
              <a:spcAft>
                <a:spcPts val="600"/>
              </a:spcAft>
            </a:pPr>
            <a:r>
              <a:rPr sz="1200" b="1" i="0">
                <a:solidFill>
                  <a:srgbClr val="202124"/>
                </a:solidFill>
                <a:latin typeface="Google Sans Flex"/>
              </a:rPr>
              <a:t>Owner dashboard:  </a:t>
            </a:r>
            <a:r>
              <a:rPr sz="1200" b="0" i="0">
                <a:solidFill>
                  <a:srgbClr val="1A73E8"/>
                </a:solidFill>
                <a:latin typeface="Google Sans Flex"/>
              </a:rPr>
              <a:t>https://royastacxk-aibuildercup.web.app/owner/</a:t>
            </a:r>
          </a:p>
          <a:p>
            <a:pPr algn="l">
              <a:spcAft>
                <a:spcPts val="600"/>
              </a:spcAft>
            </a:pPr>
            <a:r>
              <a:rPr sz="1200" b="1" i="0">
                <a:solidFill>
                  <a:srgbClr val="202124"/>
                </a:solidFill>
                <a:latin typeface="Google Sans Flex"/>
              </a:rPr>
              <a:t>Exit kiosk:  </a:t>
            </a:r>
            <a:r>
              <a:rPr sz="1200" b="0" i="0">
                <a:solidFill>
                  <a:srgbClr val="1A73E8"/>
                </a:solidFill>
                <a:latin typeface="Google Sans Flex"/>
              </a:rPr>
              <a:t>https://royastacxk-aibuildercup.web.app/kiosk/</a:t>
            </a:r>
          </a:p>
        </p:txBody>
      </p:sp>
      <p:sp>
        <p:nvSpPr>
          <p:cNvPr id="161" name="Rounded Rectangle 160"/>
          <p:cNvSpPr/>
          <p:nvPr/>
        </p:nvSpPr>
        <p:spPr>
          <a:xfrm>
            <a:off x="274320" y="3429000"/>
            <a:ext cx="4206240" cy="1481328"/>
          </a:xfrm>
          <a:prstGeom prst="roundRect">
            <a:avLst>
              <a:gd name="adj" fmla="val 8000"/>
            </a:avLst>
          </a:prstGeom>
          <a:solidFill>
            <a:srgbClr val="E6F4EA"/>
          </a:solidFill>
          <a:ln w="9525">
            <a:solidFill>
              <a:srgbClr val="188A55"/>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00" b="1" i="0">
                <a:solidFill>
                  <a:srgbClr val="188A55"/>
                </a:solidFill>
                <a:latin typeface="Google Sans Flex"/>
              </a:rPr>
              <a:t>How to try it</a:t>
            </a:r>
          </a:p>
          <a:p>
            <a:pPr algn="l" marL="132715" indent="-132715">
              <a:spcAft>
                <a:spcPts val="200"/>
              </a:spcAft>
              <a:buChar char="•"/>
            </a:pPr>
            <a:r>
              <a:rPr sz="950" b="0" i="0">
                <a:solidFill>
                  <a:srgbClr val="202124"/>
                </a:solidFill>
                <a:latin typeface="Google Sans Flex"/>
              </a:rPr>
              <a:t>Shopper: open the live app on a phone, tap Shop online and pick DailyGoods; or scan the entrance QR from the owner's Integrations tab for the store visit</a:t>
            </a:r>
          </a:p>
          <a:p>
            <a:pPr algn="l" marL="132715" indent="-132715">
              <a:spcAft>
                <a:spcPts val="200"/>
              </a:spcAft>
              <a:buChar char="•"/>
            </a:pPr>
            <a:r>
              <a:rPr sz="950" b="0" i="0">
                <a:solidFill>
                  <a:srgbClr val="202124"/>
                </a:solidFill>
                <a:latin typeface="Google Sans Flex"/>
              </a:rPr>
              <a:t>Owner: /owner/ registers a shop with a Google or email account in a minute; upload the Excel template or connect a sheet, API, database or MCP server</a:t>
            </a:r>
          </a:p>
          <a:p>
            <a:pPr algn="l" marL="132715" indent="-132715">
              <a:spcAft>
                <a:spcPts val="200"/>
              </a:spcAft>
              <a:buChar char="•"/>
            </a:pPr>
            <a:r>
              <a:rPr sz="950" b="0" i="0">
                <a:solidFill>
                  <a:srgbClr val="202124"/>
                </a:solidFill>
                <a:latin typeface="Google Sans Flex"/>
              </a:rPr>
              <a:t>Any MCP client can call /mcp/stores/dailygoods (store_info, search_products, get_product, list_category)</a:t>
            </a:r>
          </a:p>
        </p:txBody>
      </p:sp>
      <p:sp>
        <p:nvSpPr>
          <p:cNvPr id="162" name="Rounded Rectangle 161"/>
          <p:cNvSpPr/>
          <p:nvPr/>
        </p:nvSpPr>
        <p:spPr>
          <a:xfrm>
            <a:off x="4663440" y="3429000"/>
            <a:ext cx="4206240" cy="1481328"/>
          </a:xfrm>
          <a:prstGeom prst="roundRect">
            <a:avLst>
              <a:gd name="adj" fmla="val 8000"/>
            </a:avLst>
          </a:prstGeom>
          <a:solidFill>
            <a:srgbClr val="E8F0FE"/>
          </a:solidFill>
          <a:ln w="9525">
            <a:solidFill>
              <a:srgbClr val="1A73E8"/>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00" b="1" i="0">
                <a:solidFill>
                  <a:srgbClr val="1A73E8"/>
                </a:solidFill>
                <a:latin typeface="Google Sans Flex"/>
              </a:rPr>
              <a:t>In the repository</a:t>
            </a:r>
          </a:p>
          <a:p>
            <a:pPr algn="l" marL="132715" indent="-132715">
              <a:spcAft>
                <a:spcPts val="200"/>
              </a:spcAft>
              <a:buChar char="•"/>
            </a:pPr>
            <a:r>
              <a:rPr sz="950" b="0" i="0">
                <a:solidFill>
                  <a:srgbClr val="202124"/>
                </a:solidFill>
                <a:latin typeface="Google Sans Flex"/>
              </a:rPr>
              <a:t>README.md: what it does, Google Cloud services, run, test and deploy</a:t>
            </a:r>
          </a:p>
          <a:p>
            <a:pPr algn="l" marL="132715" indent="-132715">
              <a:spcAft>
                <a:spcPts val="200"/>
              </a:spcAft>
              <a:buChar char="•"/>
            </a:pPr>
            <a:r>
              <a:rPr sz="950" b="0" i="0">
                <a:solidFill>
                  <a:srgbClr val="202124"/>
                </a:solidFill>
                <a:latin typeface="Google Sans Flex"/>
              </a:rPr>
              <a:t>docs/hld.md and docs/lld/*.md: design notes per module, written before the code</a:t>
            </a:r>
          </a:p>
          <a:p>
            <a:pPr algn="l" marL="132715" indent="-132715">
              <a:spcAft>
                <a:spcPts val="200"/>
              </a:spcAft>
              <a:buChar char="•"/>
            </a:pPr>
            <a:r>
              <a:rPr sz="950" b="0" i="0">
                <a:solidFill>
                  <a:srgbClr val="202124"/>
                </a:solidFill>
                <a:latin typeface="Google Sans Flex"/>
              </a:rPr>
              <a:t>docs/security.md: every control mapped to its code path and test, plus known gaps</a:t>
            </a:r>
          </a:p>
          <a:p>
            <a:pPr algn="l" marL="132715" indent="-132715">
              <a:spcAft>
                <a:spcPts val="200"/>
              </a:spcAft>
              <a:buChar char="•"/>
            </a:pPr>
            <a:r>
              <a:rPr sz="950" b="0" i="0">
                <a:solidFill>
                  <a:srgbClr val="202124"/>
                </a:solidFill>
                <a:latin typeface="Google Sans Flex"/>
              </a:rPr>
              <a:t>docs/demo-script.md and docs/submission-checklist.md</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TextBox 166"/>
          <p:cNvSpPr txBox="1"/>
          <p:nvPr/>
        </p:nvSpPr>
        <p:spPr>
          <a:xfrm>
            <a:off x="265176" y="667512"/>
            <a:ext cx="8942832" cy="557784"/>
          </a:xfrm>
          <a:prstGeom prst="rect">
            <a:avLst/>
          </a:prstGeom>
          <a:noFill/>
        </p:spPr>
        <p:txBody>
          <a:bodyPr wrap="square" anchor="ctr" lIns="45720" rIns="45720" tIns="27432" bIns="27432">
            <a:spAutoFit/>
          </a:bodyPr>
          <a:lstStyle/>
          <a:p>
            <a:pPr algn="l">
              <a:spcAft>
                <a:spcPts val="400"/>
              </a:spcAft>
            </a:pPr>
            <a:r>
              <a:rPr sz="1600" b="0" i="0">
                <a:solidFill>
                  <a:srgbClr val="202124"/>
                </a:solidFill>
                <a:latin typeface="Google Sans Flex"/>
              </a:rPr>
              <a:t>How Royal Stack maps to the judging criteria</a:t>
            </a:r>
          </a:p>
        </p:txBody>
      </p:sp>
      <p:sp>
        <p:nvSpPr>
          <p:cNvPr id="168" name="Rounded Rectangle 167"/>
          <p:cNvSpPr/>
          <p:nvPr/>
        </p:nvSpPr>
        <p:spPr>
          <a:xfrm>
            <a:off x="274320" y="1261872"/>
            <a:ext cx="4206240" cy="1783080"/>
          </a:xfrm>
          <a:prstGeom prst="roundRect">
            <a:avLst>
              <a:gd name="adj" fmla="val 8000"/>
            </a:avLst>
          </a:prstGeom>
          <a:solidFill>
            <a:srgbClr val="E6F4EA"/>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50" b="1" i="0">
                <a:solidFill>
                  <a:srgbClr val="188A55"/>
                </a:solidFill>
                <a:latin typeface="Google Sans Flex"/>
              </a:rPr>
              <a:t>Technical merit and GenAI use (40%)</a:t>
            </a:r>
          </a:p>
          <a:p>
            <a:pPr algn="l" marL="125730" indent="-125730">
              <a:spcAft>
                <a:spcPts val="200"/>
              </a:spcAft>
              <a:buChar char="•"/>
            </a:pPr>
            <a:r>
              <a:rPr sz="900" b="0" i="0">
                <a:solidFill>
                  <a:srgbClr val="202124"/>
                </a:solidFill>
                <a:latin typeface="Google Sans Flex"/>
              </a:rPr>
              <a:t>Google ADK 2.12 agent teams on Gemini 3.5 Flash: a coordinator and specialists, two scouts in parallel and a writer for the owner briefing</a:t>
            </a:r>
          </a:p>
          <a:p>
            <a:pPr algn="l" marL="125730" indent="-125730">
              <a:spcAft>
                <a:spcPts val="200"/>
              </a:spcAft>
              <a:buChar char="•"/>
            </a:pPr>
            <a:r>
              <a:rPr sz="900" b="0" i="0">
                <a:solidFill>
                  <a:srgbClr val="202124"/>
                </a:solidFill>
                <a:latin typeface="Google Sans Flex"/>
              </a:rPr>
              <a:t>Gemini Live speech to speech over a Cloud Run websocket bridge, 25 languages, typed lines in the same session</a:t>
            </a:r>
          </a:p>
          <a:p>
            <a:pPr algn="l" marL="125730" indent="-125730">
              <a:spcAft>
                <a:spcPts val="200"/>
              </a:spcAft>
              <a:buChar char="•"/>
            </a:pPr>
            <a:r>
              <a:rPr sz="900" b="0" i="0">
                <a:solidFill>
                  <a:srgbClr val="202124"/>
                </a:solidFill>
                <a:latin typeface="Google Sans Flex"/>
              </a:rPr>
              <a:t>Google Search grounding with citations for product facts; gemini-embedding-001 search; BigQuery ML ARIMA_PLUS forecasts</a:t>
            </a:r>
          </a:p>
          <a:p>
            <a:pPr algn="l" marL="125730" indent="-125730">
              <a:spcAft>
                <a:spcPts val="200"/>
              </a:spcAft>
              <a:buChar char="•"/>
            </a:pPr>
            <a:r>
              <a:rPr sz="900" b="0" i="0">
                <a:solidFill>
                  <a:srgbClr val="202124"/>
                </a:solidFill>
                <a:latin typeface="Google Sans Flex"/>
              </a:rPr>
              <a:t>MCP server and client; Firestore transactions for anything that counts or pays; 380 backend and 32 frontend tests; control map in docs/security.md</a:t>
            </a:r>
          </a:p>
        </p:txBody>
      </p:sp>
      <p:sp>
        <p:nvSpPr>
          <p:cNvPr id="169" name="Rounded Rectangle 168"/>
          <p:cNvSpPr/>
          <p:nvPr/>
        </p:nvSpPr>
        <p:spPr>
          <a:xfrm>
            <a:off x="4663440" y="1261872"/>
            <a:ext cx="4206240" cy="1783080"/>
          </a:xfrm>
          <a:prstGeom prst="roundRect">
            <a:avLst>
              <a:gd name="adj" fmla="val 8000"/>
            </a:avLst>
          </a:prstGeom>
          <a:solidFill>
            <a:srgbClr val="E8F0FE"/>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50" b="1" i="0">
                <a:solidFill>
                  <a:srgbClr val="1A73E8"/>
                </a:solidFill>
                <a:latin typeface="Google Sans Flex"/>
              </a:rPr>
              <a:t>Problem alignment (25%)</a:t>
            </a:r>
          </a:p>
          <a:p>
            <a:pPr algn="l" marL="125730" indent="-125730">
              <a:spcAft>
                <a:spcPts val="200"/>
              </a:spcAft>
              <a:buChar char="•"/>
            </a:pPr>
            <a:r>
              <a:rPr sz="900" b="0" i="0">
                <a:solidFill>
                  <a:srgbClr val="202124"/>
                </a:solidFill>
                <a:latin typeface="Google Sans Flex"/>
              </a:rPr>
              <a:t>Retail &amp; Commerce: small and mid-size Indian retailers that already run billing software</a:t>
            </a:r>
          </a:p>
          <a:p>
            <a:pPr algn="l" marL="125730" indent="-125730">
              <a:spcAft>
                <a:spcPts val="200"/>
              </a:spcAft>
              <a:buChar char="•"/>
            </a:pPr>
            <a:r>
              <a:rPr sz="900" b="0" i="0">
                <a:solidFill>
                  <a:srgbClr val="202124"/>
                </a:solidFill>
                <a:latin typeface="Google Sans Flex"/>
              </a:rPr>
              <a:t>In the aisle: assistant, map and aisle directions, scan to add, exit kiosk</a:t>
            </a:r>
          </a:p>
          <a:p>
            <a:pPr algn="l" marL="125730" indent="-125730">
              <a:spcAft>
                <a:spcPts val="200"/>
              </a:spcAft>
              <a:buChar char="•"/>
            </a:pPr>
            <a:r>
              <a:rPr sz="900" b="0" i="0">
                <a:solidFill>
                  <a:srgbClr val="202124"/>
                </a:solidFill>
                <a:latin typeface="Google Sans Flex"/>
              </a:rPr>
              <a:t>In the back office: forecasts, reorder drafts with a rationale, demand signals, customer segments</a:t>
            </a:r>
          </a:p>
          <a:p>
            <a:pPr algn="l" marL="125730" indent="-125730">
              <a:spcAft>
                <a:spcPts val="200"/>
              </a:spcAft>
              <a:buChar char="•"/>
            </a:pPr>
            <a:r>
              <a:rPr sz="900" b="0" i="0">
                <a:solidFill>
                  <a:srgbClr val="202124"/>
                </a:solidFill>
                <a:latin typeface="Google Sans Flex"/>
              </a:rPr>
              <a:t>Between systems: inventory from Excel, Sheets, checked upload, scan, API feeds, databases and MCP servers; the catalog served back as MCP</a:t>
            </a:r>
          </a:p>
        </p:txBody>
      </p:sp>
      <p:sp>
        <p:nvSpPr>
          <p:cNvPr id="170" name="Rounded Rectangle 169"/>
          <p:cNvSpPr/>
          <p:nvPr/>
        </p:nvSpPr>
        <p:spPr>
          <a:xfrm>
            <a:off x="274320" y="3136391"/>
            <a:ext cx="4206240" cy="1783080"/>
          </a:xfrm>
          <a:prstGeom prst="roundRect">
            <a:avLst>
              <a:gd name="adj" fmla="val 8000"/>
            </a:avLst>
          </a:prstGeom>
          <a:solidFill>
            <a:srgbClr val="FEF3E2"/>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50" b="1" i="0">
                <a:solidFill>
                  <a:srgbClr val="C26D00"/>
                </a:solidFill>
                <a:latin typeface="Google Sans Flex"/>
              </a:rPr>
              <a:t>Innovation (25%)</a:t>
            </a:r>
          </a:p>
          <a:p>
            <a:pPr algn="l" marL="125730" indent="-125730">
              <a:spcAft>
                <a:spcPts val="200"/>
              </a:spcAft>
              <a:buChar char="•"/>
            </a:pPr>
            <a:r>
              <a:rPr sz="900" b="0" i="0">
                <a:solidFill>
                  <a:srgbClr val="202124"/>
                </a:solidFill>
                <a:latin typeface="Google Sans Flex"/>
              </a:rPr>
              <a:t>One agent team, one inventory truth, two shopper experiences on one session, cart and checkout</a:t>
            </a:r>
          </a:p>
          <a:p>
            <a:pPr algn="l" marL="125730" indent="-125730">
              <a:spcAft>
                <a:spcPts val="200"/>
              </a:spcAft>
              <a:buChar char="•"/>
            </a:pPr>
            <a:r>
              <a:rPr sz="900" b="0" i="0">
                <a:solidFill>
                  <a:srgbClr val="202124"/>
                </a:solidFill>
                <a:latin typeface="Google Sans Flex"/>
              </a:rPr>
              <a:t>The model talks, code decides: prices, stock, discounts, points and exit verdicts are code</a:t>
            </a:r>
          </a:p>
          <a:p>
            <a:pPr algn="l" marL="125730" indent="-125730">
              <a:spcAft>
                <a:spcPts val="200"/>
              </a:spcAft>
              <a:buChar char="•"/>
            </a:pPr>
            <a:r>
              <a:rPr sz="900" b="0" i="0">
                <a:solidFill>
                  <a:srgbClr val="202124"/>
                </a:solidFill>
                <a:latin typeface="Google Sans Flex"/>
              </a:rPr>
              <a:t>The shop as an MCP server for other agents; price comparison across MCP providers</a:t>
            </a:r>
          </a:p>
          <a:p>
            <a:pPr algn="l" marL="125730" indent="-125730">
              <a:spcAft>
                <a:spcPts val="200"/>
              </a:spcAft>
              <a:buChar char="•"/>
            </a:pPr>
            <a:r>
              <a:rPr sz="900" b="0" i="0">
                <a:solidFill>
                  <a:srgbClr val="202124"/>
                </a:solidFill>
                <a:latin typeface="Google Sans Flex"/>
              </a:rPr>
              <a:t>Seven-layer exit where vision only moves confidence; one taxonomy chain applied at import, drawn on the map, spoken in directions</a:t>
            </a:r>
          </a:p>
        </p:txBody>
      </p:sp>
      <p:sp>
        <p:nvSpPr>
          <p:cNvPr id="171" name="Rounded Rectangle 170"/>
          <p:cNvSpPr/>
          <p:nvPr/>
        </p:nvSpPr>
        <p:spPr>
          <a:xfrm>
            <a:off x="4663440" y="3136391"/>
            <a:ext cx="4206240" cy="1783080"/>
          </a:xfrm>
          <a:prstGeom prst="roundRect">
            <a:avLst>
              <a:gd name="adj" fmla="val 8000"/>
            </a:avLst>
          </a:prstGeom>
          <a:solidFill>
            <a:srgbClr val="F1F3F4"/>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a:lstStyle/>
          <a:p>
            <a:pPr algn="l">
              <a:spcAft>
                <a:spcPts val="300"/>
              </a:spcAft>
            </a:pPr>
            <a:r>
              <a:rPr sz="1150" b="1" i="0">
                <a:solidFill>
                  <a:srgbClr val="202124"/>
                </a:solidFill>
                <a:latin typeface="Google Sans Flex"/>
              </a:rPr>
              <a:t>User experience (10%)</a:t>
            </a:r>
          </a:p>
          <a:p>
            <a:pPr algn="l" marL="125730" indent="-125730">
              <a:spcAft>
                <a:spcPts val="200"/>
              </a:spcAft>
              <a:buChar char="•"/>
            </a:pPr>
            <a:r>
              <a:rPr sz="900" b="0" i="0">
                <a:solidFill>
                  <a:srgbClr val="202124"/>
                </a:solidFill>
                <a:latin typeface="Google Sans Flex"/>
              </a:rPr>
              <a:t>No install: the entrance QR or Shop online; sign-in optional and only the last four digits of a number ever shown</a:t>
            </a:r>
          </a:p>
          <a:p>
            <a:pPr algn="l" marL="125730" indent="-125730">
              <a:spcAft>
                <a:spcPts val="200"/>
              </a:spcAft>
              <a:buChar char="•"/>
            </a:pPr>
            <a:r>
              <a:rPr sz="900" b="0" i="0">
                <a:solidFill>
                  <a:srgbClr val="202124"/>
                </a:solidFill>
                <a:latin typeface="Google Sans Flex"/>
              </a:rPr>
              <a:t>Voice in 25 languages, interruptible, with full text equivalence and transcripts in the spoken script</a:t>
            </a:r>
          </a:p>
          <a:p>
            <a:pPr algn="l" marL="125730" indent="-125730">
              <a:spcAft>
                <a:spcPts val="200"/>
              </a:spcAft>
              <a:buChar char="•"/>
            </a:pPr>
            <a:r>
              <a:rPr sz="900" b="0" i="0">
                <a:solidFill>
                  <a:srgbClr val="202124"/>
                </a:solidFill>
                <a:latin typeface="Google Sans Flex"/>
              </a:rPr>
              <a:t>Product-first home, label facts with citations, price comparison, cart stepper, offers that apply themselves</a:t>
            </a:r>
          </a:p>
          <a:p>
            <a:pPr algn="l" marL="125730" indent="-125730">
              <a:spcAft>
                <a:spcPts val="200"/>
              </a:spcAft>
              <a:buChar char="•"/>
            </a:pPr>
            <a:r>
              <a:rPr sz="900" b="0" i="0">
                <a:solidFill>
                  <a:srgbClr val="202124"/>
                </a:solidFill>
                <a:latin typeface="Google Sans Flex"/>
              </a:rPr>
              <a:t>Owners preview before every import and approve before any reorder is sent; light and dark themes, screen-reader labels, reduced motion respected</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Royal Stack | AI Builder Cup submission</dc:title>
  <cp:lastModifiedBy>python-pptx</cp:lastModifiedBy>
  <cp:revision>1</cp:revision>
  <dcterms:modified xsi:type="dcterms:W3CDTF">2026-10-18T18:21:30Z</dcterms:modified>
  <dc:creator>Royal Stack, SATHISHKUMAR S</dc:creator>
  <dc:subject>AI Builder Cup 2026, Retail &amp; Commerce</dc:subject>
</cp:coreProperties>
</file>